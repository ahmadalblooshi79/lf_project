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82" r:id="rId2"/>
    <p:sldId id="278" r:id="rId3"/>
    <p:sldId id="279" r:id="rId4"/>
    <p:sldId id="283" r:id="rId5"/>
    <p:sldId id="286" r:id="rId6"/>
    <p:sldId id="287" r:id="rId7"/>
    <p:sldId id="288" r:id="rId8"/>
    <p:sldId id="290" r:id="rId9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10 User" initials="W1U" lastIdx="0" clrIdx="0">
    <p:extLst>
      <p:ext uri="{19B8F6BF-5375-455C-9EA6-DF929625EA0E}">
        <p15:presenceInfo xmlns:p15="http://schemas.microsoft.com/office/powerpoint/2012/main" userId="Windows 10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3366FF"/>
    <a:srgbClr val="FEFEFE"/>
    <a:srgbClr val="F3F2FD"/>
    <a:srgbClr val="45474E"/>
    <a:srgbClr val="4378D1"/>
    <a:srgbClr val="0066FF"/>
    <a:srgbClr val="FF66CC"/>
    <a:srgbClr val="548235"/>
    <a:srgbClr val="C5E0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0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8T07:43:15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2321 416,'0'0,"0"0,0 0,0 0,0 0,0 0,0 0,0 0,0 0,0 0,0 0,0 0,0 0,0 0,0 0,0 0,0 0,0 0,0 0,0 0,0 0,-8 11,8-1,-8-4,1-2,-1 6,0 2,1-3,-16 11,6-2,4-5,-18 18,14-19,4-3,-18 21,15-19,1-1,-8 0,12 0,-1 1,-11-1,17-5,-2 0,-7-5,10 0,2 0,-6 0,6-5,0 0,-5-5,8 4,0 1,0-5,3 0,2 0,-5-11,3 11,0 0,6-11,-9 16,0-1,8-4,-5 0,0 0,3 2,-3 5,-3-7,0 5,-9 20,-5-4,10-6,-1 0,-17 5,10 0,1 1,-27 20,18-21,2 0,-13 21,16-21,0 1,-15 9,19-15,-1 0,-19 16,23-21,1 0,-1 0,5 0,-2 0,-2 0,3 0,0 0,-2-8,4 5,2-7,4 4,0 2,-4-6,0 4,0 2,8-7,-8 6,0 0,0-5,3 4,1 2,-4-4,0 5,0-7,5 4,-2 2,1-1,-8 0,-4-6,1 11,3 0,0 0,-19 0,11 6,1-1,-43-5,24 10,0 0,-39 11,29-11,3 0,-61 11,50-6,5 0,-64 6,56-5,4-2,-53-3,52-6,4 0,-39 5,35-10,4 0,-47 0,46 0,5 0,-35 0,38-5,5 0,-30 5,34 0,3 0,-14 0,20-5,1 0,-5 5,10-6,3 1,-5-5,10 5,2 0,-5-5,8 5,0-1,0-4,11-6,1 2,33-17,-12 9,-4 3,63-33,-36 25,-6 3,80-37,-58 34,-6 3,87-38,-74 30,-6 2,64-11,-71 15,-4 1,53-5,-64 8,-3 3,21-2,-42 10,0 2,11-2,-18 6,-3 0,14-5,-15 10,-1 0,8 0,-10 0,-3 0,12 0,-5 0,-3 0,17 0,-19 0,-1 0,11 0,-14 5,-1 0,9-5,-9 0,1 0,0 10,-1-10,1 0,0 0,-8 6,0-1,7-5,-7 5,0 0,-7-5,3 5,0 0,-11 5,10-4,2-1,-12 15,7-15,0 0,-15 16,16-16,0 0,-9 15,4-9,2-1,-6 0,12-4,1-2,-13 17,8-15,1-2,-1 6,4-4,1-1,-5 5,5-5,6 1,-11 4,1 0,3-10,0 0,-4 10,1-5,-1 1,-6 14,5-20,1 0,2 10,-3-5,1 1,-7 4,12-5,-2 0,-9-5,10 5,-1 0,-1-5,1 0,2 0,-5 0,5 0,-1 0,-2 0,4 0,-4 0,4 0,-5 10,2-10,2 0,-5 10,4-5,1 1,-5 4,1-5,-1 0,0 5,0-4,1-2,-1 7,0-6,1 0,-1-5,5 6,-2-2,-1-4,1 0,2 0,-6 0,6 0,0-10,-5 10,8-5,0 0,-8-6,4 6,8 0,-8 0,1 0,3-5,-5 5,2 0,3-6,0 6,0 0,0-3,0 6,0-3,0 20,0 1,0-1,-8 36,8-51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0DBF0-76CB-4EA7-BBDF-4D9F4DC280F0}" type="datetimeFigureOut">
              <a:rPr lang="en-AE" smtClean="0"/>
              <a:t>05/05/2026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5C0A77-9016-422C-BE37-31742BA3222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02749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907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9777DB3-4CCD-ADE4-186C-5AA8DC9D4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C70C722F-34DE-4AE7-167E-C45D9A451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D247BD63-5167-1734-4597-CE6362B63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E2194AC-E4CE-0243-E318-B8886D319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C0A77-9016-422C-BE37-31742BA32222}" type="slidenum">
              <a:rPr lang="en-AE" smtClean="0"/>
              <a:t>2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9548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9777DB3-4CCD-ADE4-186C-5AA8DC9D4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C70C722F-34DE-4AE7-167E-C45D9A451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D247BD63-5167-1734-4597-CE6362B63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E2194AC-E4CE-0243-E318-B8886D319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C0A77-9016-422C-BE37-31742BA32222}" type="slidenum">
              <a:rPr lang="en-AE" smtClean="0"/>
              <a:t>3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60722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9777DB3-4CCD-ADE4-186C-5AA8DC9D4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C70C722F-34DE-4AE7-167E-C45D9A451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D247BD63-5167-1734-4597-CE6362B63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E2194AC-E4CE-0243-E318-B8886D319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5C0A77-9016-422C-BE37-31742BA32222}" type="slidenum">
              <a:rPr kumimoji="0" lang="en-A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9511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6A66-F230-4F91-8944-51BC4CB39B1A}" type="datetimeFigureOut">
              <a:rPr lang="en-AE" smtClean="0"/>
              <a:t>05/05/2026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6FB7-D080-444A-B835-24ED1E1D9FB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87404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6A66-F230-4F91-8944-51BC4CB39B1A}" type="datetimeFigureOut">
              <a:rPr lang="en-AE" smtClean="0"/>
              <a:t>05/05/2026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6FB7-D080-444A-B835-24ED1E1D9FB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16647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6A66-F230-4F91-8944-51BC4CB39B1A}" type="datetimeFigureOut">
              <a:rPr lang="en-AE" smtClean="0"/>
              <a:t>05/05/2026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6FB7-D080-444A-B835-24ED1E1D9FB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97198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6A66-F230-4F91-8944-51BC4CB39B1A}" type="datetimeFigureOut">
              <a:rPr lang="en-AE" smtClean="0"/>
              <a:t>05/05/2026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6FB7-D080-444A-B835-24ED1E1D9FB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59347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6A66-F230-4F91-8944-51BC4CB39B1A}" type="datetimeFigureOut">
              <a:rPr lang="en-AE" smtClean="0"/>
              <a:t>05/05/2026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6FB7-D080-444A-B835-24ED1E1D9FB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50416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6A66-F230-4F91-8944-51BC4CB39B1A}" type="datetimeFigureOut">
              <a:rPr lang="en-AE" smtClean="0"/>
              <a:t>05/05/2026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6FB7-D080-444A-B835-24ED1E1D9FB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82441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6A66-F230-4F91-8944-51BC4CB39B1A}" type="datetimeFigureOut">
              <a:rPr lang="en-AE" smtClean="0"/>
              <a:t>05/05/2026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6FB7-D080-444A-B835-24ED1E1D9FB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23554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6A66-F230-4F91-8944-51BC4CB39B1A}" type="datetimeFigureOut">
              <a:rPr lang="en-AE" smtClean="0"/>
              <a:t>05/05/2026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6FB7-D080-444A-B835-24ED1E1D9FB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07240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6A66-F230-4F91-8944-51BC4CB39B1A}" type="datetimeFigureOut">
              <a:rPr lang="en-AE" smtClean="0"/>
              <a:t>05/05/2026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6FB7-D080-444A-B835-24ED1E1D9FB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91996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6A66-F230-4F91-8944-51BC4CB39B1A}" type="datetimeFigureOut">
              <a:rPr lang="en-AE" smtClean="0"/>
              <a:t>05/05/2026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6FB7-D080-444A-B835-24ED1E1D9FB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4306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6A66-F230-4F91-8944-51BC4CB39B1A}" type="datetimeFigureOut">
              <a:rPr lang="en-AE" smtClean="0"/>
              <a:t>05/05/2026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6FB7-D080-444A-B835-24ED1E1D9FB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70829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A6A66-F230-4F91-8944-51BC4CB39B1A}" type="datetimeFigureOut">
              <a:rPr lang="en-AE" smtClean="0"/>
              <a:t>05/05/2026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06FB7-D080-444A-B835-24ED1E1D9FB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37898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slide" Target="slide5.xml"/><Relationship Id="rId12" Type="http://schemas.openxmlformats.org/officeDocument/2006/relationships/slide" Target="slide7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11" Type="http://schemas.openxmlformats.org/officeDocument/2006/relationships/image" Target="../media/image4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slide" Target="slide8.xml"/><Relationship Id="rId4" Type="http://schemas.openxmlformats.org/officeDocument/2006/relationships/image" Target="../media/image2.svg"/><Relationship Id="rId9" Type="http://schemas.openxmlformats.org/officeDocument/2006/relationships/image" Target="../media/image3.png"/><Relationship Id="rId1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&#1606;&#1605;&#1575;&#1584;&#1580;%20&#1578;&#1602;&#1610;&#1610;&#1605;/6.%20&#1578;&#1602;&#1610;&#1610;&#1605;%20&#1575;&#1604;&#1603;&#1578;&#1610;&#1576;&#1577;%20&#1601;&#1610;%20&#1578;&#1606;&#1601;&#1610;&#1584;%20&#1575;&#1604;&#1607;&#1580;&#1608;&#1605;.xlsx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hyperlink" Target="&#1606;&#1605;&#1575;&#1584;&#1580;%20&#1578;&#1602;&#1610;&#1610;&#1605;/3.%20&#1578;&#1602;&#1610;&#1610;&#1605;%20&#1575;&#1604;&#1603;&#1578;&#1610;&#1576;&#1577;%20&#1601;&#1610;%20&#1578;&#1605;&#1585;&#1610;&#1585;%20&#1578;&#1602;&#1575;&#1585;&#1610;&#1585;%20&#1575;&#1604;&#1605;&#1593;&#1604;&#1608;&#1605;&#1575;&#1578;.xlsx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958C5FC-3047-3195-CB9E-383F724FF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CA442AB-2A8B-C339-D393-4FDD603E4982}"/>
              </a:ext>
            </a:extLst>
          </p:cNvPr>
          <p:cNvSpPr txBox="1"/>
          <p:nvPr/>
        </p:nvSpPr>
        <p:spPr>
          <a:xfrm>
            <a:off x="3276600" y="569195"/>
            <a:ext cx="335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doMaster-Bold" panose="02000500030000020004" pitchFamily="50" charset="-78"/>
                <a:ea typeface="+mn-ea"/>
                <a:cs typeface="AbdoMaster-Bold" panose="02000500030000020004" pitchFamily="50" charset="-78"/>
              </a:rPr>
              <a:t>فريق المحكمين</a:t>
            </a:r>
            <a:endParaRPr kumimoji="0" lang="en-AE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25F55E46-54D6-5D21-B048-2D26747DC22D}"/>
              </a:ext>
            </a:extLst>
          </p:cNvPr>
          <p:cNvGrpSpPr/>
          <p:nvPr/>
        </p:nvGrpSpPr>
        <p:grpSpPr>
          <a:xfrm>
            <a:off x="8445434" y="39650"/>
            <a:ext cx="1460566" cy="821932"/>
            <a:chOff x="7459354" y="5441346"/>
            <a:chExt cx="3537277" cy="1990600"/>
          </a:xfrm>
        </p:grpSpPr>
        <p:pic>
          <p:nvPicPr>
            <p:cNvPr id="10" name="Graphic 9" descr="Back RTL">
              <a:extLst>
                <a:ext uri="{FF2B5EF4-FFF2-40B4-BE49-F238E27FC236}">
                  <a16:creationId xmlns:a16="http://schemas.microsoft.com/office/drawing/2014/main" xmlns="" id="{A4722F95-61CE-DB0B-D565-EB97D5D47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903401" y="5441346"/>
              <a:ext cx="914400" cy="9144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A423BE58-320C-BC2B-6C55-A84703303566}"/>
                </a:ext>
              </a:extLst>
            </p:cNvPr>
            <p:cNvSpPr txBox="1"/>
            <p:nvPr/>
          </p:nvSpPr>
          <p:spPr>
            <a:xfrm>
              <a:off x="7459354" y="6164783"/>
              <a:ext cx="3537277" cy="12671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AE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doMaster-Bold" panose="02000500030000020004" pitchFamily="50" charset="-78"/>
                  <a:ea typeface="+mn-ea"/>
                  <a:cs typeface="AbdoMaster-Bold" panose="02000500030000020004" pitchFamily="50" charset="-78"/>
                </a:rPr>
                <a:t>العودة للقائمة الرئيسية</a:t>
              </a:r>
              <a:endParaRPr kumimoji="0" lang="en-A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1" name="Picture 20">
            <a:hlinkClick r:id="" action="ppaction://noaction"/>
            <a:extLst>
              <a:ext uri="{FF2B5EF4-FFF2-40B4-BE49-F238E27FC236}">
                <a16:creationId xmlns:a16="http://schemas.microsoft.com/office/drawing/2014/main" xmlns="" id="{5FE2A723-B77E-11E2-A49E-1CCCFB9DD24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FFF2CC">
                <a:tint val="45000"/>
                <a:satMod val="400000"/>
              </a:srgbClr>
            </a:duotone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406" y="3426935"/>
            <a:ext cx="660672" cy="911653"/>
          </a:xfrm>
          <a:prstGeom prst="rect">
            <a:avLst/>
          </a:prstGeom>
        </p:spPr>
      </p:pic>
      <p:sp>
        <p:nvSpPr>
          <p:cNvPr id="23" name="TextBox 22">
            <a:hlinkClick r:id="" action="ppaction://noaction"/>
            <a:extLst>
              <a:ext uri="{FF2B5EF4-FFF2-40B4-BE49-F238E27FC236}">
                <a16:creationId xmlns:a16="http://schemas.microsoft.com/office/drawing/2014/main" xmlns="" id="{A200B744-173D-F9ED-3148-A2F4703E442C}"/>
              </a:ext>
            </a:extLst>
          </p:cNvPr>
          <p:cNvSpPr txBox="1"/>
          <p:nvPr/>
        </p:nvSpPr>
        <p:spPr>
          <a:xfrm>
            <a:off x="421336" y="4397225"/>
            <a:ext cx="2084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doMaster-Bold" panose="02000500030000020004" pitchFamily="50" charset="-78"/>
                <a:ea typeface="+mn-ea"/>
                <a:cs typeface="AbdoMaster-Bold" panose="02000500030000020004" pitchFamily="50" charset="-78"/>
              </a:rPr>
              <a:t>موقع المحكمين</a:t>
            </a:r>
            <a:endParaRPr kumimoji="0" lang="en-A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Box 26">
            <a:hlinkClick r:id="rId7" action="ppaction://hlinksldjump"/>
            <a:extLst>
              <a:ext uri="{FF2B5EF4-FFF2-40B4-BE49-F238E27FC236}">
                <a16:creationId xmlns:a16="http://schemas.microsoft.com/office/drawing/2014/main" xmlns="" id="{FB88AAEC-E8BD-F229-F4EF-D1DE8F201DE2}"/>
              </a:ext>
            </a:extLst>
          </p:cNvPr>
          <p:cNvSpPr txBox="1"/>
          <p:nvPr/>
        </p:nvSpPr>
        <p:spPr>
          <a:xfrm>
            <a:off x="421336" y="2709308"/>
            <a:ext cx="2084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doMaster-Bold" panose="02000500030000020004" pitchFamily="50" charset="-78"/>
                <a:ea typeface="+mn-ea"/>
                <a:cs typeface="AbdoMaster-Bold" panose="02000500030000020004" pitchFamily="50" charset="-78"/>
              </a:rPr>
              <a:t>غرف المحادثة</a:t>
            </a:r>
            <a:endParaRPr kumimoji="0" lang="en-A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hlinkClick r:id="rId8" action="ppaction://hlinksldjump"/>
            <a:extLst>
              <a:ext uri="{FF2B5EF4-FFF2-40B4-BE49-F238E27FC236}">
                <a16:creationId xmlns:a16="http://schemas.microsoft.com/office/drawing/2014/main" xmlns="" id="{EE85386F-A534-B160-00A9-4FD402BECF44}"/>
              </a:ext>
            </a:extLst>
          </p:cNvPr>
          <p:cNvSpPr txBox="1"/>
          <p:nvPr/>
        </p:nvSpPr>
        <p:spPr>
          <a:xfrm>
            <a:off x="6693298" y="4381666"/>
            <a:ext cx="2084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doMaster-Bold" panose="02000500030000020004" pitchFamily="50" charset="-78"/>
                <a:ea typeface="+mn-ea"/>
                <a:cs typeface="AbdoMaster-Bold" panose="02000500030000020004" pitchFamily="50" charset="-78"/>
              </a:rPr>
              <a:t>مهام غير مكتملة</a:t>
            </a:r>
            <a:endParaRPr kumimoji="0" lang="en-A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C9768E3A-FFEB-A8EB-F27D-069B11758FCE}"/>
              </a:ext>
            </a:extLst>
          </p:cNvPr>
          <p:cNvSpPr txBox="1"/>
          <p:nvPr/>
        </p:nvSpPr>
        <p:spPr>
          <a:xfrm>
            <a:off x="6666534" y="2709308"/>
            <a:ext cx="2084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doMaster-Bold" panose="02000500030000020004" pitchFamily="50" charset="-78"/>
                <a:ea typeface="+mn-ea"/>
                <a:cs typeface="AbdoMaster-Bold" panose="02000500030000020004" pitchFamily="50" charset="-78"/>
              </a:rPr>
              <a:t>قوائم التقييم</a:t>
            </a:r>
            <a:endParaRPr kumimoji="0" lang="en-A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9" name="Picture 38">
            <a:hlinkClick r:id="rId8" action="ppaction://hlinksldjump"/>
            <a:extLst>
              <a:ext uri="{FF2B5EF4-FFF2-40B4-BE49-F238E27FC236}">
                <a16:creationId xmlns:a16="http://schemas.microsoft.com/office/drawing/2014/main" xmlns="" id="{EF5AB6A8-365A-7B1C-A799-314444BAA11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609" y="3350971"/>
            <a:ext cx="891876" cy="891876"/>
          </a:xfrm>
          <a:prstGeom prst="rect">
            <a:avLst/>
          </a:prstGeom>
        </p:spPr>
      </p:pic>
      <p:sp>
        <p:nvSpPr>
          <p:cNvPr id="43" name="TextBox 42">
            <a:hlinkClick r:id="rId10" action="ppaction://hlinksldjump"/>
            <a:extLst>
              <a:ext uri="{FF2B5EF4-FFF2-40B4-BE49-F238E27FC236}">
                <a16:creationId xmlns:a16="http://schemas.microsoft.com/office/drawing/2014/main" xmlns="" id="{46642569-E9DE-6942-84B9-07BFAEBDAB3F}"/>
              </a:ext>
            </a:extLst>
          </p:cNvPr>
          <p:cNvSpPr txBox="1"/>
          <p:nvPr/>
        </p:nvSpPr>
        <p:spPr>
          <a:xfrm>
            <a:off x="6810196" y="6054025"/>
            <a:ext cx="2084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doMaster-Bold" panose="02000500030000020004" pitchFamily="50" charset="-78"/>
                <a:ea typeface="+mn-ea"/>
                <a:cs typeface="AbdoMaster-Bold" panose="02000500030000020004" pitchFamily="50" charset="-78"/>
              </a:rPr>
              <a:t>سجل الإشعارات</a:t>
            </a:r>
            <a:endParaRPr kumimoji="0" lang="en-A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Box 44">
            <a:hlinkClick r:id="rId7" action="ppaction://hlinksldjump"/>
            <a:extLst>
              <a:ext uri="{FF2B5EF4-FFF2-40B4-BE49-F238E27FC236}">
                <a16:creationId xmlns:a16="http://schemas.microsoft.com/office/drawing/2014/main" xmlns="" id="{23363A33-4675-82DA-95A8-D64BDEEB4F3F}"/>
              </a:ext>
            </a:extLst>
          </p:cNvPr>
          <p:cNvSpPr txBox="1"/>
          <p:nvPr/>
        </p:nvSpPr>
        <p:spPr>
          <a:xfrm>
            <a:off x="3317324" y="2709308"/>
            <a:ext cx="2509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doMaster-Bold" panose="02000500030000020004" pitchFamily="50" charset="-78"/>
                <a:ea typeface="+mn-ea"/>
                <a:cs typeface="AbdoMaster-Bold" panose="02000500030000020004" pitchFamily="50" charset="-78"/>
              </a:rPr>
              <a:t>الصورة العامة للمعركة</a:t>
            </a:r>
            <a:endParaRPr kumimoji="0" lang="en-A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" name="Picture 46">
            <a:hlinkClick r:id="rId7" action="ppaction://hlinksldjump"/>
            <a:extLst>
              <a:ext uri="{FF2B5EF4-FFF2-40B4-BE49-F238E27FC236}">
                <a16:creationId xmlns:a16="http://schemas.microsoft.com/office/drawing/2014/main" xmlns="" id="{58237770-2739-33BB-8A80-29063211E297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F2CC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4030357" y="1598895"/>
            <a:ext cx="1082991" cy="960879"/>
          </a:xfrm>
          <a:prstGeom prst="ellipse">
            <a:avLst/>
          </a:prstGeom>
        </p:spPr>
      </p:pic>
      <p:sp>
        <p:nvSpPr>
          <p:cNvPr id="49" name="TextBox 48">
            <a:hlinkClick r:id="rId12" action="ppaction://hlinksldjump"/>
            <a:extLst>
              <a:ext uri="{FF2B5EF4-FFF2-40B4-BE49-F238E27FC236}">
                <a16:creationId xmlns:a16="http://schemas.microsoft.com/office/drawing/2014/main" xmlns="" id="{AB80A854-1C31-1740-F09C-2C646E1F16E9}"/>
              </a:ext>
            </a:extLst>
          </p:cNvPr>
          <p:cNvSpPr txBox="1"/>
          <p:nvPr/>
        </p:nvSpPr>
        <p:spPr>
          <a:xfrm>
            <a:off x="3337398" y="4397225"/>
            <a:ext cx="2468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doMaster-Bold" panose="02000500030000020004" pitchFamily="50" charset="-78"/>
                <a:ea typeface="+mn-ea"/>
                <a:cs typeface="AbdoMaster-Bold" panose="02000500030000020004" pitchFamily="50" charset="-78"/>
              </a:rPr>
              <a:t>معلومات التمرين</a:t>
            </a:r>
            <a:endParaRPr kumimoji="0" lang="en-AE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doMaster-Bold" panose="02000500030000020004" pitchFamily="50" charset="-78"/>
              <a:ea typeface="+mn-ea"/>
              <a:cs typeface="AbdoMaster-Bold" panose="02000500030000020004" pitchFamily="50" charset="-78"/>
            </a:endParaRPr>
          </a:p>
        </p:txBody>
      </p:sp>
      <p:pic>
        <p:nvPicPr>
          <p:cNvPr id="51" name="Picture 50">
            <a:hlinkClick r:id="rId12" action="ppaction://hlinksldjump"/>
            <a:extLst>
              <a:ext uri="{FF2B5EF4-FFF2-40B4-BE49-F238E27FC236}">
                <a16:creationId xmlns:a16="http://schemas.microsoft.com/office/drawing/2014/main" xmlns="" id="{BD660D0D-5BEA-C38C-533D-D28BD01A443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0412" y="3333441"/>
            <a:ext cx="890508" cy="890508"/>
          </a:xfrm>
          <a:prstGeom prst="rect">
            <a:avLst/>
          </a:prstGeom>
        </p:spPr>
      </p:pic>
      <p:pic>
        <p:nvPicPr>
          <p:cNvPr id="22" name="Picture 21">
            <a:hlinkClick r:id="rId10" action="ppaction://hlinksldjump"/>
            <a:extLst>
              <a:ext uri="{FF2B5EF4-FFF2-40B4-BE49-F238E27FC236}">
                <a16:creationId xmlns:a16="http://schemas.microsoft.com/office/drawing/2014/main" xmlns="" id="{A36E20BF-0EAD-4F46-A7B9-49D9244F154D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087" y="5038888"/>
            <a:ext cx="1015137" cy="1015137"/>
          </a:xfrm>
          <a:prstGeom prst="rect">
            <a:avLst/>
          </a:prstGeom>
        </p:spPr>
      </p:pic>
      <p:pic>
        <p:nvPicPr>
          <p:cNvPr id="24" name="Picture 23">
            <a:hlinkClick r:id="" action="ppaction://hlinkshowjump?jump=nextslide"/>
            <a:extLst>
              <a:ext uri="{FF2B5EF4-FFF2-40B4-BE49-F238E27FC236}">
                <a16:creationId xmlns:a16="http://schemas.microsoft.com/office/drawing/2014/main" xmlns="" id="{FEAFE753-7144-4A81-8877-18528C50A490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087" y="1679215"/>
            <a:ext cx="971234" cy="951680"/>
          </a:xfrm>
          <a:prstGeom prst="rect">
            <a:avLst/>
          </a:prstGeom>
        </p:spPr>
      </p:pic>
      <p:pic>
        <p:nvPicPr>
          <p:cNvPr id="30" name="Picture 29">
            <a:hlinkClick r:id="rId7" action="ppaction://hlinksldjump"/>
            <a:extLst>
              <a:ext uri="{FF2B5EF4-FFF2-40B4-BE49-F238E27FC236}">
                <a16:creationId xmlns:a16="http://schemas.microsoft.com/office/drawing/2014/main" xmlns="" id="{EC566AB1-B077-44DB-BF78-7F29E4C87BB8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F2CC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51" t="23503" r="21915" b="24757"/>
          <a:stretch/>
        </p:blipFill>
        <p:spPr>
          <a:xfrm>
            <a:off x="990100" y="1691722"/>
            <a:ext cx="1026181" cy="93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730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958C5FC-3047-3195-CB9E-383F724FF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CA442AB-2A8B-C339-D393-4FDD603E4982}"/>
              </a:ext>
            </a:extLst>
          </p:cNvPr>
          <p:cNvSpPr txBox="1"/>
          <p:nvPr/>
        </p:nvSpPr>
        <p:spPr>
          <a:xfrm>
            <a:off x="1786122" y="407834"/>
            <a:ext cx="63337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AE" sz="3200" b="1" dirty="0">
                <a:latin typeface="AbdoMaster-Bold" panose="02000500030000020004" pitchFamily="50" charset="-78"/>
                <a:cs typeface="AbdoMaster-Bold" panose="02000500030000020004" pitchFamily="50" charset="-78"/>
              </a:rPr>
              <a:t>فريق المحكمين – قوائم التقييم</a:t>
            </a:r>
            <a:endParaRPr lang="en-AE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F3F72166-C1BE-44F9-834C-E0C7924BC602}"/>
              </a:ext>
            </a:extLst>
          </p:cNvPr>
          <p:cNvSpPr txBox="1"/>
          <p:nvPr/>
        </p:nvSpPr>
        <p:spPr>
          <a:xfrm>
            <a:off x="7409345" y="1276724"/>
            <a:ext cx="227153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rtl="1"/>
            <a:r>
              <a:rPr lang="ar-AE" sz="2400" b="1" dirty="0">
                <a:latin typeface="AbdoMaster-Bold" panose="02000500030000020004" pitchFamily="50" charset="-78"/>
                <a:cs typeface="AbdoMaster-Bold" panose="02000500030000020004" pitchFamily="50" charset="-78"/>
              </a:rPr>
              <a:t>نوع  التمريــن:</a:t>
            </a:r>
            <a:endParaRPr lang="en-AE" sz="2400" b="1" dirty="0">
              <a:latin typeface="AbdoMaster-Bold" panose="02000500030000020004" pitchFamily="50" charset="-78"/>
              <a:cs typeface="AbdoMaster-Bold" panose="02000500030000020004" pitchFamily="50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2B485CEF-6734-4DB3-9E89-4FB6250A38EA}"/>
              </a:ext>
            </a:extLst>
          </p:cNvPr>
          <p:cNvGrpSpPr/>
          <p:nvPr/>
        </p:nvGrpSpPr>
        <p:grpSpPr>
          <a:xfrm>
            <a:off x="4934467" y="1256215"/>
            <a:ext cx="2285276" cy="584776"/>
            <a:chOff x="5633885" y="1476568"/>
            <a:chExt cx="2285276" cy="584776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xmlns="" id="{5980B6C6-3C4E-45F5-A220-5BDC5D6BDBA5}"/>
                </a:ext>
              </a:extLst>
            </p:cNvPr>
            <p:cNvSpPr/>
            <p:nvPr/>
          </p:nvSpPr>
          <p:spPr>
            <a:xfrm>
              <a:off x="6124469" y="1476568"/>
              <a:ext cx="1794692" cy="584776"/>
            </a:xfrm>
            <a:prstGeom prst="roundRect">
              <a:avLst/>
            </a:prstGeom>
            <a:solidFill>
              <a:schemeClr val="bg2"/>
            </a:solidFill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sz="2000" b="1" dirty="0">
                <a:solidFill>
                  <a:srgbClr val="F5F4F4"/>
                </a:solidFill>
                <a:latin typeface="AbdoMaster-Bold" panose="02000500030000020004" pitchFamily="50" charset="-78"/>
                <a:cs typeface="AbdoMaster-Bold" panose="02000500030000020004" pitchFamily="50" charset="-78"/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xmlns="" id="{B97CC965-6D36-4EE3-B164-AB6512020C51}"/>
                </a:ext>
              </a:extLst>
            </p:cNvPr>
            <p:cNvSpPr/>
            <p:nvPr/>
          </p:nvSpPr>
          <p:spPr>
            <a:xfrm>
              <a:off x="5633885" y="1476568"/>
              <a:ext cx="1794692" cy="584776"/>
            </a:xfrm>
            <a:prstGeom prst="roundRect">
              <a:avLst/>
            </a:prstGeom>
            <a:solidFill>
              <a:schemeClr val="bg2"/>
            </a:solidFill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sz="2000" b="1" dirty="0">
                <a:solidFill>
                  <a:srgbClr val="F5F4F4"/>
                </a:solidFill>
                <a:latin typeface="AbdoMaster-Bold" panose="02000500030000020004" pitchFamily="50" charset="-78"/>
                <a:cs typeface="AbdoMaster-Bold" panose="02000500030000020004" pitchFamily="50" charset="-78"/>
              </a:endParaRPr>
            </a:p>
          </p:txBody>
        </p:sp>
        <p:sp>
          <p:nvSpPr>
            <p:cNvPr id="28" name="Flowchart: Extract 27">
              <a:extLst>
                <a:ext uri="{FF2B5EF4-FFF2-40B4-BE49-F238E27FC236}">
                  <a16:creationId xmlns:a16="http://schemas.microsoft.com/office/drawing/2014/main" xmlns="" id="{7E62742F-D73F-4414-851E-1C0A8BBE6B6E}"/>
                </a:ext>
              </a:extLst>
            </p:cNvPr>
            <p:cNvSpPr/>
            <p:nvPr/>
          </p:nvSpPr>
          <p:spPr>
            <a:xfrm rot="10800000">
              <a:off x="7554103" y="1638140"/>
              <a:ext cx="264729" cy="241823"/>
            </a:xfrm>
            <a:prstGeom prst="flowChartExtra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AE" dirty="0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39538F52-5776-406F-BF84-CDF1CDD86BB2}"/>
              </a:ext>
            </a:extLst>
          </p:cNvPr>
          <p:cNvSpPr txBox="1"/>
          <p:nvPr/>
        </p:nvSpPr>
        <p:spPr>
          <a:xfrm>
            <a:off x="7408605" y="2999529"/>
            <a:ext cx="227079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r" rtl="1">
              <a:defRPr sz="2400" b="1">
                <a:latin typeface="AbdoMaster-Bold" panose="02000500030000020004" pitchFamily="50" charset="-78"/>
                <a:cs typeface="AbdoMaster-Bold" panose="02000500030000020004" pitchFamily="50" charset="-78"/>
              </a:defRPr>
            </a:lvl1pPr>
          </a:lstStyle>
          <a:p>
            <a:r>
              <a:rPr lang="ar-AE" dirty="0"/>
              <a:t>الصنــــــــــــف:</a:t>
            </a:r>
            <a:endParaRPr lang="en-AE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xmlns="" id="{20E37631-FD92-44FC-9A15-2E4E55E927F1}"/>
              </a:ext>
            </a:extLst>
          </p:cNvPr>
          <p:cNvGrpSpPr/>
          <p:nvPr/>
        </p:nvGrpSpPr>
        <p:grpSpPr>
          <a:xfrm>
            <a:off x="4932989" y="2979020"/>
            <a:ext cx="2285276" cy="584776"/>
            <a:chOff x="5633885" y="1476568"/>
            <a:chExt cx="2285276" cy="584776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xmlns="" id="{C75ACF2E-8171-4641-957A-FA0EA4B62B5D}"/>
                </a:ext>
              </a:extLst>
            </p:cNvPr>
            <p:cNvSpPr/>
            <p:nvPr/>
          </p:nvSpPr>
          <p:spPr>
            <a:xfrm>
              <a:off x="6124469" y="1476568"/>
              <a:ext cx="1794692" cy="584776"/>
            </a:xfrm>
            <a:prstGeom prst="roundRect">
              <a:avLst/>
            </a:prstGeom>
            <a:solidFill>
              <a:schemeClr val="bg2"/>
            </a:solidFill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sz="2000" b="1" dirty="0">
                <a:solidFill>
                  <a:srgbClr val="F5F4F4"/>
                </a:solidFill>
                <a:latin typeface="AbdoMaster-Bold" panose="02000500030000020004" pitchFamily="50" charset="-78"/>
                <a:cs typeface="AbdoMaster-Bold" panose="02000500030000020004" pitchFamily="50" charset="-78"/>
              </a:endParaRP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xmlns="" id="{2A6A910E-7BB2-40EA-BF45-570998ED97B4}"/>
                </a:ext>
              </a:extLst>
            </p:cNvPr>
            <p:cNvSpPr/>
            <p:nvPr/>
          </p:nvSpPr>
          <p:spPr>
            <a:xfrm>
              <a:off x="5633885" y="1476568"/>
              <a:ext cx="1794692" cy="584776"/>
            </a:xfrm>
            <a:prstGeom prst="roundRect">
              <a:avLst/>
            </a:prstGeom>
            <a:solidFill>
              <a:schemeClr val="bg2"/>
            </a:solidFill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sz="2000" b="1" dirty="0">
                <a:solidFill>
                  <a:srgbClr val="F5F4F4"/>
                </a:solidFill>
                <a:latin typeface="AbdoMaster-Bold" panose="02000500030000020004" pitchFamily="50" charset="-78"/>
                <a:cs typeface="AbdoMaster-Bold" panose="02000500030000020004" pitchFamily="50" charset="-78"/>
              </a:endParaRPr>
            </a:p>
          </p:txBody>
        </p:sp>
        <p:sp>
          <p:nvSpPr>
            <p:cNvPr id="38" name="Flowchart: Extract 37">
              <a:extLst>
                <a:ext uri="{FF2B5EF4-FFF2-40B4-BE49-F238E27FC236}">
                  <a16:creationId xmlns:a16="http://schemas.microsoft.com/office/drawing/2014/main" xmlns="" id="{40AF6D5F-2015-48ED-B5DD-232223B50F4C}"/>
                </a:ext>
              </a:extLst>
            </p:cNvPr>
            <p:cNvSpPr/>
            <p:nvPr/>
          </p:nvSpPr>
          <p:spPr>
            <a:xfrm rot="10800000">
              <a:off x="7554103" y="1638140"/>
              <a:ext cx="264729" cy="241823"/>
            </a:xfrm>
            <a:prstGeom prst="flowChartExtra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AE" dirty="0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5CB9EEF5-0FEF-4BB2-8F15-B3BD9BFFB82E}"/>
              </a:ext>
            </a:extLst>
          </p:cNvPr>
          <p:cNvSpPr txBox="1"/>
          <p:nvPr/>
        </p:nvSpPr>
        <p:spPr>
          <a:xfrm>
            <a:off x="7408605" y="4020301"/>
            <a:ext cx="227079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r" rtl="1">
              <a:defRPr sz="2400" b="1">
                <a:latin typeface="AbdoMaster-Bold" panose="02000500030000020004" pitchFamily="50" charset="-78"/>
                <a:cs typeface="AbdoMaster-Bold" panose="02000500030000020004" pitchFamily="50" charset="-78"/>
              </a:defRPr>
            </a:lvl1pPr>
          </a:lstStyle>
          <a:p>
            <a:r>
              <a:rPr lang="ar-AE" dirty="0"/>
              <a:t>تاريـــخ التقييـم:</a:t>
            </a:r>
            <a:endParaRPr lang="en-AE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xmlns="" id="{7AA79D6F-8C1D-4EB6-95AF-D74DAD485DA0}"/>
              </a:ext>
            </a:extLst>
          </p:cNvPr>
          <p:cNvGrpSpPr/>
          <p:nvPr/>
        </p:nvGrpSpPr>
        <p:grpSpPr>
          <a:xfrm>
            <a:off x="4932989" y="3999792"/>
            <a:ext cx="2285276" cy="584776"/>
            <a:chOff x="5633885" y="1476568"/>
            <a:chExt cx="2285276" cy="584776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xmlns="" id="{9C968324-3321-4B48-8671-CAA98CCC5CE5}"/>
                </a:ext>
              </a:extLst>
            </p:cNvPr>
            <p:cNvSpPr/>
            <p:nvPr/>
          </p:nvSpPr>
          <p:spPr>
            <a:xfrm>
              <a:off x="6124469" y="1476568"/>
              <a:ext cx="1794692" cy="584776"/>
            </a:xfrm>
            <a:prstGeom prst="roundRect">
              <a:avLst/>
            </a:prstGeom>
            <a:solidFill>
              <a:schemeClr val="bg2"/>
            </a:solidFill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sz="2000" b="1" dirty="0">
                <a:solidFill>
                  <a:srgbClr val="F5F4F4"/>
                </a:solidFill>
                <a:latin typeface="AbdoMaster-Bold" panose="02000500030000020004" pitchFamily="50" charset="-78"/>
                <a:cs typeface="AbdoMaster-Bold" panose="02000500030000020004" pitchFamily="50" charset="-78"/>
              </a:endParaRP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xmlns="" id="{70751D8F-7729-48CF-B6F2-D5EBEEC82249}"/>
                </a:ext>
              </a:extLst>
            </p:cNvPr>
            <p:cNvSpPr/>
            <p:nvPr/>
          </p:nvSpPr>
          <p:spPr>
            <a:xfrm>
              <a:off x="5633885" y="1476568"/>
              <a:ext cx="1794692" cy="584776"/>
            </a:xfrm>
            <a:prstGeom prst="roundRect">
              <a:avLst/>
            </a:prstGeom>
            <a:solidFill>
              <a:schemeClr val="bg2"/>
            </a:solidFill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sz="2000" b="1" dirty="0">
                <a:solidFill>
                  <a:srgbClr val="F5F4F4"/>
                </a:solidFill>
                <a:latin typeface="AbdoMaster-Bold" panose="02000500030000020004" pitchFamily="50" charset="-78"/>
                <a:cs typeface="AbdoMaster-Bold" panose="02000500030000020004" pitchFamily="50" charset="-78"/>
              </a:endParaRPr>
            </a:p>
          </p:txBody>
        </p:sp>
        <p:sp>
          <p:nvSpPr>
            <p:cNvPr id="46" name="Flowchart: Extract 45">
              <a:extLst>
                <a:ext uri="{FF2B5EF4-FFF2-40B4-BE49-F238E27FC236}">
                  <a16:creationId xmlns:a16="http://schemas.microsoft.com/office/drawing/2014/main" xmlns="" id="{9565CA8A-75A6-4C03-ACD6-5D1DEAC9D30E}"/>
                </a:ext>
              </a:extLst>
            </p:cNvPr>
            <p:cNvSpPr/>
            <p:nvPr/>
          </p:nvSpPr>
          <p:spPr>
            <a:xfrm rot="10800000">
              <a:off x="7554103" y="1638140"/>
              <a:ext cx="264729" cy="241823"/>
            </a:xfrm>
            <a:prstGeom prst="flowChartExtra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AE" dirty="0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2C66D929-23DF-4A74-880E-31BF4D6A5089}"/>
              </a:ext>
            </a:extLst>
          </p:cNvPr>
          <p:cNvSpPr txBox="1"/>
          <p:nvPr/>
        </p:nvSpPr>
        <p:spPr>
          <a:xfrm>
            <a:off x="7225165" y="5029355"/>
            <a:ext cx="245423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r" rtl="1">
              <a:defRPr sz="2400" b="1">
                <a:latin typeface="AbdoMaster-Bold" panose="02000500030000020004" pitchFamily="50" charset="-78"/>
                <a:cs typeface="AbdoMaster-Bold" panose="02000500030000020004" pitchFamily="50" charset="-78"/>
              </a:defRPr>
            </a:lvl1pPr>
          </a:lstStyle>
          <a:p>
            <a:r>
              <a:rPr lang="ar-AE" dirty="0"/>
              <a:t>الوحدة المُقيمة:</a:t>
            </a:r>
            <a:endParaRPr lang="en-AE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xmlns="" id="{A6E5AF2A-B779-4318-9972-B968C5E0CEB1}"/>
              </a:ext>
            </a:extLst>
          </p:cNvPr>
          <p:cNvGrpSpPr/>
          <p:nvPr/>
        </p:nvGrpSpPr>
        <p:grpSpPr>
          <a:xfrm>
            <a:off x="4932989" y="5008846"/>
            <a:ext cx="2285276" cy="584776"/>
            <a:chOff x="5633885" y="1476568"/>
            <a:chExt cx="2285276" cy="584776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xmlns="" id="{2AF21EA2-0AD0-4F57-A56B-29AFBF89EE9A}"/>
                </a:ext>
              </a:extLst>
            </p:cNvPr>
            <p:cNvSpPr/>
            <p:nvPr/>
          </p:nvSpPr>
          <p:spPr>
            <a:xfrm>
              <a:off x="6124469" y="1476568"/>
              <a:ext cx="1794692" cy="584776"/>
            </a:xfrm>
            <a:prstGeom prst="roundRect">
              <a:avLst/>
            </a:prstGeom>
            <a:solidFill>
              <a:schemeClr val="bg2"/>
            </a:solidFill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sz="2000" b="1" dirty="0">
                <a:solidFill>
                  <a:srgbClr val="F5F4F4"/>
                </a:solidFill>
                <a:latin typeface="AbdoMaster-Bold" panose="02000500030000020004" pitchFamily="50" charset="-78"/>
                <a:cs typeface="AbdoMaster-Bold" panose="02000500030000020004" pitchFamily="50" charset="-78"/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xmlns="" id="{50D9362F-9D78-446D-B197-105E7ED3448E}"/>
                </a:ext>
              </a:extLst>
            </p:cNvPr>
            <p:cNvSpPr/>
            <p:nvPr/>
          </p:nvSpPr>
          <p:spPr>
            <a:xfrm>
              <a:off x="5633885" y="1476568"/>
              <a:ext cx="1794692" cy="584776"/>
            </a:xfrm>
            <a:prstGeom prst="roundRect">
              <a:avLst/>
            </a:prstGeom>
            <a:solidFill>
              <a:schemeClr val="bg2"/>
            </a:solidFill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sz="2000" b="1" dirty="0">
                <a:solidFill>
                  <a:srgbClr val="F5F4F4"/>
                </a:solidFill>
                <a:latin typeface="AbdoMaster-Bold" panose="02000500030000020004" pitchFamily="50" charset="-78"/>
                <a:cs typeface="AbdoMaster-Bold" panose="02000500030000020004" pitchFamily="50" charset="-78"/>
              </a:endParaRPr>
            </a:p>
          </p:txBody>
        </p:sp>
        <p:sp>
          <p:nvSpPr>
            <p:cNvPr id="54" name="Flowchart: Extract 53">
              <a:extLst>
                <a:ext uri="{FF2B5EF4-FFF2-40B4-BE49-F238E27FC236}">
                  <a16:creationId xmlns:a16="http://schemas.microsoft.com/office/drawing/2014/main" xmlns="" id="{AB68BBE9-ECC6-4652-A20A-893B6A3DF17A}"/>
                </a:ext>
              </a:extLst>
            </p:cNvPr>
            <p:cNvSpPr/>
            <p:nvPr/>
          </p:nvSpPr>
          <p:spPr>
            <a:xfrm rot="10800000">
              <a:off x="7554103" y="1638140"/>
              <a:ext cx="264729" cy="241823"/>
            </a:xfrm>
            <a:prstGeom prst="flowChartExtra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AE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8D35BA09-9DD0-42C8-A84C-F5DA62275A30}"/>
              </a:ext>
            </a:extLst>
          </p:cNvPr>
          <p:cNvSpPr txBox="1"/>
          <p:nvPr/>
        </p:nvSpPr>
        <p:spPr>
          <a:xfrm>
            <a:off x="7409344" y="2132992"/>
            <a:ext cx="227079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r" rtl="1">
              <a:defRPr sz="2400" b="1">
                <a:latin typeface="AbdoMaster-Bold" panose="02000500030000020004" pitchFamily="50" charset="-78"/>
                <a:cs typeface="AbdoMaster-Bold" panose="02000500030000020004" pitchFamily="50" charset="-78"/>
              </a:defRPr>
            </a:lvl1pPr>
          </a:lstStyle>
          <a:p>
            <a:r>
              <a:rPr lang="ar-AE" dirty="0"/>
              <a:t>مرحلة التمرين:</a:t>
            </a:r>
            <a:endParaRPr lang="en-AE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xmlns="" id="{95207305-87BA-45F3-B40F-E60CBCE8E587}"/>
              </a:ext>
            </a:extLst>
          </p:cNvPr>
          <p:cNvGrpSpPr/>
          <p:nvPr/>
        </p:nvGrpSpPr>
        <p:grpSpPr>
          <a:xfrm>
            <a:off x="4933728" y="2112483"/>
            <a:ext cx="2285276" cy="584776"/>
            <a:chOff x="5633885" y="1476568"/>
            <a:chExt cx="2285276" cy="584776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xmlns="" id="{2B20C7C1-4644-42E4-A80C-7D379CA0AE7A}"/>
                </a:ext>
              </a:extLst>
            </p:cNvPr>
            <p:cNvSpPr/>
            <p:nvPr/>
          </p:nvSpPr>
          <p:spPr>
            <a:xfrm>
              <a:off x="6124469" y="1476568"/>
              <a:ext cx="1794692" cy="584776"/>
            </a:xfrm>
            <a:prstGeom prst="roundRect">
              <a:avLst/>
            </a:prstGeom>
            <a:solidFill>
              <a:schemeClr val="bg2"/>
            </a:solidFill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sz="2000" b="1" dirty="0">
                <a:solidFill>
                  <a:srgbClr val="F5F4F4"/>
                </a:solidFill>
                <a:latin typeface="AbdoMaster-Bold" panose="02000500030000020004" pitchFamily="50" charset="-78"/>
                <a:cs typeface="AbdoMaster-Bold" panose="02000500030000020004" pitchFamily="50" charset="-78"/>
              </a:endParaRP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xmlns="" id="{7EF858B1-B96C-4F4F-B57D-75463D960F78}"/>
                </a:ext>
              </a:extLst>
            </p:cNvPr>
            <p:cNvSpPr/>
            <p:nvPr/>
          </p:nvSpPr>
          <p:spPr>
            <a:xfrm>
              <a:off x="5633885" y="1476568"/>
              <a:ext cx="1794692" cy="584776"/>
            </a:xfrm>
            <a:prstGeom prst="roundRect">
              <a:avLst/>
            </a:prstGeom>
            <a:solidFill>
              <a:schemeClr val="bg2"/>
            </a:solidFill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sz="2000" b="1" dirty="0">
                <a:solidFill>
                  <a:srgbClr val="F5F4F4"/>
                </a:solidFill>
                <a:latin typeface="AbdoMaster-Bold" panose="02000500030000020004" pitchFamily="50" charset="-78"/>
                <a:cs typeface="AbdoMaster-Bold" panose="02000500030000020004" pitchFamily="50" charset="-78"/>
              </a:endParaRPr>
            </a:p>
          </p:txBody>
        </p:sp>
        <p:sp>
          <p:nvSpPr>
            <p:cNvPr id="60" name="Flowchart: Extract 59">
              <a:extLst>
                <a:ext uri="{FF2B5EF4-FFF2-40B4-BE49-F238E27FC236}">
                  <a16:creationId xmlns:a16="http://schemas.microsoft.com/office/drawing/2014/main" xmlns="" id="{1956DDA6-8A93-4097-BD5C-110BA397DFE2}"/>
                </a:ext>
              </a:extLst>
            </p:cNvPr>
            <p:cNvSpPr/>
            <p:nvPr/>
          </p:nvSpPr>
          <p:spPr>
            <a:xfrm rot="10800000">
              <a:off x="7554103" y="1638140"/>
              <a:ext cx="264729" cy="241823"/>
            </a:xfrm>
            <a:prstGeom prst="flowChartExtra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AE" dirty="0"/>
            </a:p>
          </p:txBody>
        </p:sp>
      </p:grpSp>
      <p:pic>
        <p:nvPicPr>
          <p:cNvPr id="61" name="Graphic 60" descr="Circle with right arrow">
            <a:hlinkClick r:id="" action="ppaction://hlinkshowjump?jump=nextslide"/>
            <a:extLst>
              <a:ext uri="{FF2B5EF4-FFF2-40B4-BE49-F238E27FC236}">
                <a16:creationId xmlns:a16="http://schemas.microsoft.com/office/drawing/2014/main" xmlns="" id="{E12BD668-79CC-4488-98DE-4098F6DBE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819650" y="5670244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2E2279D-D53B-4CB6-A6FE-F78FE84FF602}"/>
              </a:ext>
            </a:extLst>
          </p:cNvPr>
          <p:cNvSpPr txBox="1"/>
          <p:nvPr/>
        </p:nvSpPr>
        <p:spPr>
          <a:xfrm>
            <a:off x="104747" y="1020285"/>
            <a:ext cx="4429619" cy="85753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algn="justLow" defTabSz="914400" rtl="1"/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اختيار نوع التمرين (لعبات حرب أو جاهزية) لتحديد نوع القوائم التي سيتم تحميلها في الصفحة التالية (حسب قاعدة البيانات المدخلة من فريق إدارة النظام قبل التمرين). </a:t>
            </a:r>
            <a:endParaRPr 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B93C94A1-42C5-4A81-BAE7-7E6CB340CD5E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4534366" y="1446213"/>
            <a:ext cx="406344" cy="28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C1B47921-64E1-4FCE-A20B-E13A968A0E69}"/>
              </a:ext>
            </a:extLst>
          </p:cNvPr>
          <p:cNvSpPr txBox="1"/>
          <p:nvPr/>
        </p:nvSpPr>
        <p:spPr>
          <a:xfrm>
            <a:off x="115456" y="1966730"/>
            <a:ext cx="4429619" cy="85753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algn="justLow" defTabSz="914400" rtl="1"/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اختيار مرحلة التمرين لتحديد قوائم التقييم المطلوبة حسب كل المرحلة (وفقاً لمراحل التمرين المعتمدة من فريق التخطيط  وقاعدة البيانات المدخلة من فريق إدارة النظام قبل التمرين).</a:t>
            </a:r>
            <a:endParaRPr 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xmlns="" id="{680BEC33-BC2A-48F3-9234-6DCF938EFD17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4545075" y="2395497"/>
            <a:ext cx="377445" cy="110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8F199F49-9A0B-4E90-B706-48FED64D98B0}"/>
              </a:ext>
            </a:extLst>
          </p:cNvPr>
          <p:cNvSpPr txBox="1"/>
          <p:nvPr/>
        </p:nvSpPr>
        <p:spPr>
          <a:xfrm>
            <a:off x="115456" y="2961018"/>
            <a:ext cx="4429619" cy="59592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algn="justLow" defTabSz="914400" rtl="1"/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اختيار صنف المحكم (مثال: طبية، صيانة، مشاة) لتحديد نوع قائمة التقييم حسب صنف المحكم.</a:t>
            </a:r>
            <a:endParaRPr 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xmlns="" id="{54DFFE21-EE14-417A-BCD2-721C3B8408E6}"/>
              </a:ext>
            </a:extLst>
          </p:cNvPr>
          <p:cNvCxnSpPr>
            <a:cxnSpLocks/>
            <a:stCxn id="45" idx="3"/>
          </p:cNvCxnSpPr>
          <p:nvPr/>
        </p:nvCxnSpPr>
        <p:spPr>
          <a:xfrm flipV="1">
            <a:off x="4545075" y="3248589"/>
            <a:ext cx="379350" cy="103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xmlns="" id="{FB9867BF-726C-4EED-90E8-49EE2BFD0E79}"/>
              </a:ext>
            </a:extLst>
          </p:cNvPr>
          <p:cNvSpPr txBox="1"/>
          <p:nvPr/>
        </p:nvSpPr>
        <p:spPr>
          <a:xfrm>
            <a:off x="115456" y="3608216"/>
            <a:ext cx="4429619" cy="16035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lIns="36000" tIns="36000" rIns="36000" bIns="36000" rtlCol="0">
            <a:noAutofit/>
          </a:bodyPr>
          <a:lstStyle/>
          <a:p>
            <a:pPr marL="263525" indent="-263525" algn="justLow" defTabSz="914400" rtl="1">
              <a:buFont typeface="+mj-lt"/>
              <a:buAutoNum type="arabicPeriod"/>
            </a:pP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اختيار تاريخ ووقت التقييم من خلال أسلوب الرزنامة المدمجة أو (</a:t>
            </a: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Click &amp; Drop</a:t>
            </a: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) وساعة لتحديد الأحداث الرئيسية وقوائم التقييم المطلوبة خلال هذا التاريخ.</a:t>
            </a:r>
          </a:p>
          <a:p>
            <a:pPr marL="263525" indent="-263525" algn="justLow" defTabSz="914400" rtl="1">
              <a:buFont typeface="+mj-lt"/>
              <a:buAutoNum type="arabicPeriod"/>
            </a:pP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يتضمن كل حدث رئيسي عدد من إجراءات المعركة وتخصص قائمة لكل إجراء حسب القوائم التي يعتمدها فريق التخطيط.</a:t>
            </a:r>
            <a:endParaRPr 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xmlns="" id="{8E23F55E-497D-41F6-9A50-D5E1537DB5E6}"/>
              </a:ext>
            </a:extLst>
          </p:cNvPr>
          <p:cNvCxnSpPr>
            <a:cxnSpLocks/>
            <a:stCxn id="49" idx="3"/>
            <a:endCxn id="44" idx="1"/>
          </p:cNvCxnSpPr>
          <p:nvPr/>
        </p:nvCxnSpPr>
        <p:spPr>
          <a:xfrm flipV="1">
            <a:off x="4545075" y="4292180"/>
            <a:ext cx="387914" cy="1178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xmlns="" id="{B99998F5-0B8D-4ABC-A0C8-724B9D7D49B7}"/>
              </a:ext>
            </a:extLst>
          </p:cNvPr>
          <p:cNvSpPr txBox="1"/>
          <p:nvPr/>
        </p:nvSpPr>
        <p:spPr>
          <a:xfrm>
            <a:off x="115456" y="5344112"/>
            <a:ext cx="4429619" cy="13807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marL="174625" indent="-174625" algn="justLow" defTabSz="914400" rtl="1">
              <a:buFont typeface="Arial" panose="020B0604020202020204" pitchFamily="34" charset="0"/>
              <a:buChar char="•"/>
            </a:pP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تضمين التنظيم التفصيلي للوحدة المتدربة حتى أدنى مستوى في هذه الخانة بأسلوب (</a:t>
            </a: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Click &amp; Drop</a:t>
            </a: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4625" indent="-174625" algn="justLow" defTabSz="914400" rtl="1">
              <a:buFont typeface="Arial" panose="020B0604020202020204" pitchFamily="34" charset="0"/>
              <a:buChar char="•"/>
            </a:pP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يختار المستخدم مستوى الوحدة الخاضعة للتقييم لتعبئة بيانات (اسم الوحدة – أسم قائد الوحدة) تلقائياً في قائمة التقييم .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xmlns="" id="{3393506E-5E8E-45A4-92B5-7E2B0EE0E131}"/>
              </a:ext>
            </a:extLst>
          </p:cNvPr>
          <p:cNvCxnSpPr>
            <a:cxnSpLocks/>
            <a:stCxn id="57" idx="3"/>
            <a:endCxn id="53" idx="1"/>
          </p:cNvCxnSpPr>
          <p:nvPr/>
        </p:nvCxnSpPr>
        <p:spPr>
          <a:xfrm flipV="1">
            <a:off x="4545075" y="5301234"/>
            <a:ext cx="387914" cy="7332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xmlns="" id="{57E86BAC-3203-4AEC-96BF-A262942DFBD1}"/>
              </a:ext>
            </a:extLst>
          </p:cNvPr>
          <p:cNvGrpSpPr/>
          <p:nvPr/>
        </p:nvGrpSpPr>
        <p:grpSpPr>
          <a:xfrm>
            <a:off x="8445434" y="39650"/>
            <a:ext cx="1460566" cy="821932"/>
            <a:chOff x="7459354" y="5441346"/>
            <a:chExt cx="3537277" cy="1990600"/>
          </a:xfrm>
        </p:grpSpPr>
        <p:pic>
          <p:nvPicPr>
            <p:cNvPr id="64" name="Graphic 63" descr="Back RTL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xmlns="" id="{181E5AF6-1FD3-4DC1-99C5-E647D5A5FC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8903401" y="5441346"/>
              <a:ext cx="914400" cy="914401"/>
            </a:xfrm>
            <a:prstGeom prst="rect">
              <a:avLst/>
            </a:prstGeom>
          </p:spPr>
        </p:pic>
        <p:sp>
          <p:nvSpPr>
            <p:cNvPr id="65" name="TextBox 64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xmlns="" id="{18047C07-D57F-47B6-9BC2-A76886BF1500}"/>
                </a:ext>
              </a:extLst>
            </p:cNvPr>
            <p:cNvSpPr txBox="1"/>
            <p:nvPr/>
          </p:nvSpPr>
          <p:spPr>
            <a:xfrm>
              <a:off x="7459354" y="6164783"/>
              <a:ext cx="3537277" cy="12671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lang="ar-AE" sz="1400" b="1" dirty="0">
                  <a:latin typeface="AbdoMaster-Bold" panose="02000500030000020004" pitchFamily="50" charset="-78"/>
                  <a:cs typeface="AbdoMaster-Bold" panose="02000500030000020004" pitchFamily="50" charset="-78"/>
                </a:rPr>
                <a:t>العودة للقائمة السابقة</a:t>
              </a:r>
              <a:endParaRPr lang="en-AE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72406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9" grpId="0" animBg="1"/>
      <p:bldP spid="45" grpId="0" animBg="1"/>
      <p:bldP spid="49" grpId="0" animBg="1"/>
      <p:bldP spid="5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958C5FC-3047-3195-CB9E-383F724FF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CA442AB-2A8B-C339-D393-4FDD603E4982}"/>
              </a:ext>
            </a:extLst>
          </p:cNvPr>
          <p:cNvSpPr txBox="1"/>
          <p:nvPr/>
        </p:nvSpPr>
        <p:spPr>
          <a:xfrm>
            <a:off x="1786122" y="569195"/>
            <a:ext cx="63337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AE" sz="3200" b="1" dirty="0">
                <a:latin typeface="AbdoMaster-Bold" panose="02000500030000020004" pitchFamily="50" charset="-78"/>
                <a:cs typeface="AbdoMaster-Bold" panose="02000500030000020004" pitchFamily="50" charset="-78"/>
              </a:rPr>
              <a:t>فريق المحكمين – قوائم التقييم</a:t>
            </a:r>
            <a:endParaRPr lang="en-AE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8D9F1F7E-01B5-48CC-811F-932593755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119695"/>
              </p:ext>
            </p:extLst>
          </p:nvPr>
        </p:nvGraphicFramePr>
        <p:xfrm>
          <a:off x="165847" y="3202896"/>
          <a:ext cx="9574306" cy="30998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2707">
                  <a:extLst>
                    <a:ext uri="{9D8B030D-6E8A-4147-A177-3AD203B41FA5}">
                      <a16:colId xmlns:a16="http://schemas.microsoft.com/office/drawing/2014/main" xmlns="" val="3951173031"/>
                    </a:ext>
                  </a:extLst>
                </a:gridCol>
                <a:gridCol w="1384713">
                  <a:extLst>
                    <a:ext uri="{9D8B030D-6E8A-4147-A177-3AD203B41FA5}">
                      <a16:colId xmlns:a16="http://schemas.microsoft.com/office/drawing/2014/main" xmlns="" val="3715360356"/>
                    </a:ext>
                  </a:extLst>
                </a:gridCol>
                <a:gridCol w="1318774">
                  <a:extLst>
                    <a:ext uri="{9D8B030D-6E8A-4147-A177-3AD203B41FA5}">
                      <a16:colId xmlns:a16="http://schemas.microsoft.com/office/drawing/2014/main" xmlns="" val="1784313967"/>
                    </a:ext>
                  </a:extLst>
                </a:gridCol>
                <a:gridCol w="1654360">
                  <a:extLst>
                    <a:ext uri="{9D8B030D-6E8A-4147-A177-3AD203B41FA5}">
                      <a16:colId xmlns:a16="http://schemas.microsoft.com/office/drawing/2014/main" xmlns="" val="128501471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xmlns="" val="544428115"/>
                    </a:ext>
                  </a:extLst>
                </a:gridCol>
                <a:gridCol w="1025623">
                  <a:extLst>
                    <a:ext uri="{9D8B030D-6E8A-4147-A177-3AD203B41FA5}">
                      <a16:colId xmlns:a16="http://schemas.microsoft.com/office/drawing/2014/main" xmlns="" val="947513467"/>
                    </a:ext>
                  </a:extLst>
                </a:gridCol>
                <a:gridCol w="844016">
                  <a:extLst>
                    <a:ext uri="{9D8B030D-6E8A-4147-A177-3AD203B41FA5}">
                      <a16:colId xmlns:a16="http://schemas.microsoft.com/office/drawing/2014/main" xmlns="" val="459889876"/>
                    </a:ext>
                  </a:extLst>
                </a:gridCol>
                <a:gridCol w="952002">
                  <a:extLst>
                    <a:ext uri="{9D8B030D-6E8A-4147-A177-3AD203B41FA5}">
                      <a16:colId xmlns:a16="http://schemas.microsoft.com/office/drawing/2014/main" xmlns="" val="1250781934"/>
                    </a:ext>
                  </a:extLst>
                </a:gridCol>
                <a:gridCol w="327211">
                  <a:extLst>
                    <a:ext uri="{9D8B030D-6E8A-4147-A177-3AD203B41FA5}">
                      <a16:colId xmlns:a16="http://schemas.microsoft.com/office/drawing/2014/main" xmlns="" val="4216466096"/>
                    </a:ext>
                  </a:extLst>
                </a:gridCol>
              </a:tblGrid>
              <a:tr h="619973">
                <a:tc>
                  <a:txBody>
                    <a:bodyPr/>
                    <a:lstStyle/>
                    <a:p>
                      <a:pPr algn="ctr" rtl="1"/>
                      <a:r>
                        <a:rPr lang="ar-AE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التقدير العام</a:t>
                      </a:r>
                      <a:endParaRPr lang="en-US" sz="15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الموقف </a:t>
                      </a:r>
                    </a:p>
                    <a:p>
                      <a:pPr algn="ctr" rtl="1"/>
                      <a:r>
                        <a:rPr lang="ar-AE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(انجز / لم ينجز)</a:t>
                      </a:r>
                      <a:endParaRPr lang="en-US" sz="15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توقيت التسليم</a:t>
                      </a:r>
                      <a:endParaRPr lang="en-US" sz="15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قائمة التقييم</a:t>
                      </a:r>
                      <a:endParaRPr lang="en-US" sz="15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الوحدة المُقيمة</a:t>
                      </a:r>
                      <a:endParaRPr lang="en-US" sz="15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مرحلة التمرين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نوع التمرين</a:t>
                      </a:r>
                      <a:endParaRPr lang="en-US" sz="15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التاريـــخ والوقت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ت</a:t>
                      </a:r>
                      <a:endParaRPr lang="en-US" sz="15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83605171"/>
                  </a:ext>
                </a:extLst>
              </a:tr>
              <a:tr h="619973">
                <a:tc>
                  <a:txBody>
                    <a:bodyPr/>
                    <a:lstStyle/>
                    <a:p>
                      <a:pPr algn="ctr" rtl="1"/>
                      <a:r>
                        <a:rPr lang="ar-AE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sz="15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لم ينجز</a:t>
                      </a:r>
                      <a:endParaRPr lang="en-US" sz="15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AE" sz="15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سعت 2000  </a:t>
                      </a:r>
                    </a:p>
                    <a:p>
                      <a:pPr marL="0" algn="ctr" defTabSz="914400" rtl="1" eaLnBrk="1" latinLnBrk="0" hangingPunct="1"/>
                      <a:r>
                        <a:rPr lang="ar-AE" sz="15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يوم 1 / 1 / 2027</a:t>
                      </a:r>
                      <a:endParaRPr lang="en-US" sz="15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AE" sz="1500" b="1" u="sng" kern="1200" dirty="0">
                          <a:solidFill>
                            <a:srgbClr val="3333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3" action="ppaction://hlinkfile"/>
                        </a:rPr>
                        <a:t>الهجوم المدبر على مستوى كتيبة</a:t>
                      </a:r>
                      <a:endParaRPr lang="en-US" sz="1500" b="1" u="sng" kern="1200" dirty="0">
                        <a:solidFill>
                          <a:srgbClr val="3333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AE" sz="15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كتيبة المشاة الآلية/2</a:t>
                      </a:r>
                      <a:endParaRPr lang="en-US" sz="15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AE" sz="15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مرحلة التمرين الرئيسي</a:t>
                      </a:r>
                      <a:endParaRPr lang="en-US" sz="15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AE" sz="15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جاهزية</a:t>
                      </a:r>
                      <a:endParaRPr lang="en-US" sz="15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AE" sz="15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2026/1/1</a:t>
                      </a:r>
                    </a:p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AE" sz="15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سعت 0900</a:t>
                      </a:r>
                      <a:endParaRPr lang="en-US" sz="15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790534518"/>
                  </a:ext>
                </a:extLst>
              </a:tr>
              <a:tr h="619973">
                <a:tc>
                  <a:txBody>
                    <a:bodyPr/>
                    <a:lstStyle/>
                    <a:p>
                      <a:pPr algn="ctr" rtl="1"/>
                      <a:r>
                        <a:rPr lang="ar-AE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جيد</a:t>
                      </a:r>
                      <a:endParaRPr 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sz="1500" b="1" dirty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أنجز</a:t>
                      </a:r>
                      <a:endParaRPr lang="en-US" sz="1500" b="1" dirty="0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AE" sz="15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سعت 2200  </a:t>
                      </a:r>
                    </a:p>
                    <a:p>
                      <a:pPr marL="0" algn="ctr" defTabSz="914400" rtl="1" eaLnBrk="1" latinLnBrk="0" hangingPunct="1"/>
                      <a:r>
                        <a:rPr lang="ar-AE" sz="15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يوم 1 / 1 / 2027</a:t>
                      </a:r>
                      <a:endParaRPr lang="en-US" sz="15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AE" sz="1500" b="1" u="sng" kern="1200" dirty="0">
                          <a:solidFill>
                            <a:srgbClr val="3333FF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4" action="ppaction://hlinkfile"/>
                        </a:rPr>
                        <a:t>تقييم الكتيبة في تمرير المعلومات</a:t>
                      </a:r>
                      <a:endParaRPr lang="en-US" sz="1500" b="1" u="sng" kern="1200" dirty="0">
                        <a:solidFill>
                          <a:srgbClr val="3333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AE" sz="15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كتيبة المشاة الآلية/3</a:t>
                      </a:r>
                      <a:endParaRPr lang="en-US" sz="15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AE" sz="15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مرحلة إعادة التنظيم</a:t>
                      </a:r>
                      <a:endParaRPr lang="en-US" sz="15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AE" sz="15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جاهزية</a:t>
                      </a:r>
                      <a:endParaRPr lang="en-US" sz="15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AE" sz="15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2026/1/1</a:t>
                      </a:r>
                    </a:p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AE" sz="15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سعت 1500</a:t>
                      </a:r>
                      <a:endParaRPr lang="en-US" sz="15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653234745"/>
                  </a:ext>
                </a:extLst>
              </a:tr>
              <a:tr h="619973">
                <a:tc>
                  <a:txBody>
                    <a:bodyPr/>
                    <a:lstStyle/>
                    <a:p>
                      <a:pPr algn="ctr" rtl="1"/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55312010"/>
                  </a:ext>
                </a:extLst>
              </a:tr>
              <a:tr h="619973">
                <a:tc>
                  <a:txBody>
                    <a:bodyPr/>
                    <a:lstStyle/>
                    <a:p>
                      <a:pPr algn="ctr" rtl="1"/>
                      <a:endParaRPr 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17564856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10106CC-D39D-4C2D-BD9B-E011557E0EA7}"/>
              </a:ext>
            </a:extLst>
          </p:cNvPr>
          <p:cNvSpPr txBox="1"/>
          <p:nvPr/>
        </p:nvSpPr>
        <p:spPr>
          <a:xfrm>
            <a:off x="6821714" y="1294086"/>
            <a:ext cx="2918439" cy="857533"/>
          </a:xfrm>
          <a:prstGeom prst="rect">
            <a:avLst/>
          </a:prstGeom>
          <a:noFill/>
          <a:ln w="28575">
            <a:solidFill>
              <a:srgbClr val="0066FF"/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algn="ctr" defTabSz="914400" rtl="1"/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خانات تعبأ تلقائياً حسب مدخلات الصفحة السابقة وذلك لتأكيد المعلومات للمستخدم قبل البدء في تعبئة القوائم</a:t>
            </a:r>
            <a:endParaRPr 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553294A2-18C9-441E-8904-F86CEC7775DD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8280934" y="2151619"/>
            <a:ext cx="615648" cy="1051277"/>
          </a:xfrm>
          <a:prstGeom prst="straightConnector1">
            <a:avLst/>
          </a:prstGeom>
          <a:ln w="28575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1012C679-2CD7-4CF1-BD2D-B78F1A06314B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8031048" y="2151619"/>
            <a:ext cx="249886" cy="1051277"/>
          </a:xfrm>
          <a:prstGeom prst="straightConnector1">
            <a:avLst/>
          </a:prstGeom>
          <a:ln w="28575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EFB843E0-4F0D-426E-B800-185506C4A2E4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7046260" y="2151619"/>
            <a:ext cx="1234674" cy="1051277"/>
          </a:xfrm>
          <a:prstGeom prst="straightConnector1">
            <a:avLst/>
          </a:prstGeom>
          <a:ln w="28575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D39FEDF5-D6B0-440D-9530-14C83548DE15}"/>
              </a:ext>
            </a:extLst>
          </p:cNvPr>
          <p:cNvSpPr txBox="1"/>
          <p:nvPr/>
        </p:nvSpPr>
        <p:spPr>
          <a:xfrm>
            <a:off x="4399392" y="1294086"/>
            <a:ext cx="2324753" cy="164236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marL="263525" indent="-263525" algn="justLow" defTabSz="914400" rtl="1">
              <a:buFont typeface="+mj-lt"/>
              <a:buAutoNum type="arabicPeriod"/>
            </a:pP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خانة تعبأ تلقائياً حسب التاريخ والأحداث المحددة من قبل فريق التخطيط ومدخلات قاعدة البيانات</a:t>
            </a:r>
          </a:p>
          <a:p>
            <a:pPr marL="263525" indent="-263525" algn="justLow" defTabSz="914400" rtl="1">
              <a:buFont typeface="+mj-lt"/>
              <a:buAutoNum type="arabicPeriod"/>
            </a:pP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اضافة خاصية الضغط على القائمة كرابط لتحميل التقييم</a:t>
            </a:r>
            <a:endParaRPr 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4D82AD75-5ABF-464F-853A-AE7D249A6FC1}"/>
              </a:ext>
            </a:extLst>
          </p:cNvPr>
          <p:cNvCxnSpPr>
            <a:cxnSpLocks/>
            <a:stCxn id="20" idx="2"/>
            <a:endCxn id="4" idx="0"/>
          </p:cNvCxnSpPr>
          <p:nvPr/>
        </p:nvCxnSpPr>
        <p:spPr>
          <a:xfrm flipH="1">
            <a:off x="4953000" y="2936450"/>
            <a:ext cx="608769" cy="2664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F5F3984C-C981-4D6F-AC9B-8C2481E94275}"/>
              </a:ext>
            </a:extLst>
          </p:cNvPr>
          <p:cNvSpPr txBox="1"/>
          <p:nvPr/>
        </p:nvSpPr>
        <p:spPr>
          <a:xfrm>
            <a:off x="2711148" y="1297254"/>
            <a:ext cx="1593011" cy="857533"/>
          </a:xfrm>
          <a:prstGeom prst="rect">
            <a:avLst/>
          </a:prstGeom>
          <a:noFill/>
          <a:ln w="28575">
            <a:solidFill>
              <a:srgbClr val="0066FF"/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algn="ctr" defTabSz="914400" rtl="1"/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يحدد توقيت التسليم من قبل (مدير التمرين أو المحكم الأقدم)</a:t>
            </a:r>
            <a:endParaRPr 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30B7111F-8BDE-4826-9B68-19DE764D023C}"/>
              </a:ext>
            </a:extLst>
          </p:cNvPr>
          <p:cNvSpPr txBox="1"/>
          <p:nvPr/>
        </p:nvSpPr>
        <p:spPr>
          <a:xfrm>
            <a:off x="1038806" y="1294086"/>
            <a:ext cx="1593011" cy="164236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algn="ctr" defTabSz="914400" rtl="1"/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يظهر باللون الأحمر في حالة عدم الإنجاز</a:t>
            </a:r>
          </a:p>
          <a:p>
            <a:pPr algn="ctr" defTabSz="914400" rtl="1"/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ضمن الوقت المحدد وإرسال إشعار لمدير التمرين وللمحكم الأقدم</a:t>
            </a:r>
            <a:endParaRPr 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xmlns="" id="{2BC434CF-5295-48F5-895D-AE774E32ED8E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3148521" y="2154787"/>
            <a:ext cx="359133" cy="1051277"/>
          </a:xfrm>
          <a:prstGeom prst="straightConnector1">
            <a:avLst/>
          </a:prstGeom>
          <a:ln w="28575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B4060673-BA06-4142-9F53-CFDF60679546}"/>
              </a:ext>
            </a:extLst>
          </p:cNvPr>
          <p:cNvSpPr txBox="1"/>
          <p:nvPr/>
        </p:nvSpPr>
        <p:spPr>
          <a:xfrm>
            <a:off x="23853" y="1294086"/>
            <a:ext cx="962141" cy="811367"/>
          </a:xfrm>
          <a:prstGeom prst="rect">
            <a:avLst/>
          </a:prstGeom>
          <a:noFill/>
          <a:ln w="28575">
            <a:solidFill>
              <a:srgbClr val="0066FF"/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algn="ctr" defTabSz="914400" rtl="1"/>
            <a:r>
              <a:rPr lang="ar-AE" sz="1600" b="1" dirty="0">
                <a:latin typeface="Arial" panose="020B0604020202020204" pitchFamily="34" charset="0"/>
                <a:cs typeface="Arial" panose="020B0604020202020204" pitchFamily="34" charset="0"/>
              </a:rPr>
              <a:t>يعبأ تلقائياً حسب قائمة التقييم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xmlns="" id="{5A73DB3D-158C-4A09-8ABD-363B0E9B8B70}"/>
              </a:ext>
            </a:extLst>
          </p:cNvPr>
          <p:cNvCxnSpPr>
            <a:cxnSpLocks/>
            <a:stCxn id="35" idx="2"/>
          </p:cNvCxnSpPr>
          <p:nvPr/>
        </p:nvCxnSpPr>
        <p:spPr>
          <a:xfrm flipH="1">
            <a:off x="1820536" y="2936450"/>
            <a:ext cx="14776" cy="2664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xmlns="" id="{E3A4E162-37BE-4847-A0E9-31E085EEBF66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504924" y="2105453"/>
            <a:ext cx="92374" cy="1097443"/>
          </a:xfrm>
          <a:prstGeom prst="straightConnector1">
            <a:avLst/>
          </a:prstGeom>
          <a:ln w="28575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xmlns="" id="{13D8C884-9035-4E81-9DB0-65C4AFD06C45}"/>
              </a:ext>
            </a:extLst>
          </p:cNvPr>
          <p:cNvGrpSpPr/>
          <p:nvPr/>
        </p:nvGrpSpPr>
        <p:grpSpPr>
          <a:xfrm>
            <a:off x="8445434" y="39650"/>
            <a:ext cx="1460566" cy="821932"/>
            <a:chOff x="7459354" y="5441346"/>
            <a:chExt cx="3537277" cy="1990600"/>
          </a:xfrm>
        </p:grpSpPr>
        <p:pic>
          <p:nvPicPr>
            <p:cNvPr id="27" name="Graphic 26" descr="Back RTL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xmlns="" id="{2FD4496D-C565-4AEC-BB83-C227A4AC11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8903401" y="5441346"/>
              <a:ext cx="914400" cy="914401"/>
            </a:xfrm>
            <a:prstGeom prst="rect">
              <a:avLst/>
            </a:prstGeom>
          </p:spPr>
        </p:pic>
        <p:sp>
          <p:nvSpPr>
            <p:cNvPr id="28" name="TextBox 27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xmlns="" id="{37ED89B1-66C0-4841-B064-E0B96B6F9930}"/>
                </a:ext>
              </a:extLst>
            </p:cNvPr>
            <p:cNvSpPr txBox="1"/>
            <p:nvPr/>
          </p:nvSpPr>
          <p:spPr>
            <a:xfrm>
              <a:off x="7459354" y="6164783"/>
              <a:ext cx="3537277" cy="12671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lang="ar-AE" sz="1400" b="1" dirty="0">
                  <a:latin typeface="AbdoMaster-Bold" panose="02000500030000020004" pitchFamily="50" charset="-78"/>
                  <a:cs typeface="AbdoMaster-Bold" panose="02000500030000020004" pitchFamily="50" charset="-78"/>
                </a:rPr>
                <a:t>العودة للقائمة السابقة</a:t>
              </a:r>
              <a:endParaRPr lang="en-AE" sz="1400" dirty="0"/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87A68321-31AC-4364-9F61-49E83FDDD6E4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113930" y="2151619"/>
            <a:ext cx="2167004" cy="1051277"/>
          </a:xfrm>
          <a:prstGeom prst="straightConnector1">
            <a:avLst/>
          </a:prstGeom>
          <a:ln w="28575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687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0" grpId="0" animBg="1"/>
      <p:bldP spid="26" grpId="0" animBg="1"/>
      <p:bldP spid="35" grpId="0" animBg="1"/>
      <p:bldP spid="4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9623437-3820-4380-A168-B6AA3ED136B2}"/>
              </a:ext>
            </a:extLst>
          </p:cNvPr>
          <p:cNvSpPr txBox="1"/>
          <p:nvPr/>
        </p:nvSpPr>
        <p:spPr>
          <a:xfrm>
            <a:off x="3001736" y="974271"/>
            <a:ext cx="390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AE" b="1" u="sng" dirty="0">
                <a:latin typeface="Arial" panose="020B0604020202020204" pitchFamily="34" charset="0"/>
                <a:cs typeface="Arial" panose="020B0604020202020204" pitchFamily="34" charset="0"/>
              </a:rPr>
              <a:t>تقييم سرية الاستطلاع في التقدم للتماس</a:t>
            </a:r>
            <a:endParaRPr lang="en-US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8240650-ED8C-4C61-A0EB-BF46D1AA98AE}"/>
              </a:ext>
            </a:extLst>
          </p:cNvPr>
          <p:cNvSpPr txBox="1"/>
          <p:nvPr/>
        </p:nvSpPr>
        <p:spPr>
          <a:xfrm>
            <a:off x="3001736" y="1366548"/>
            <a:ext cx="390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AE" b="1" u="sng" dirty="0">
                <a:latin typeface="Arial" panose="020B0604020202020204" pitchFamily="34" charset="0"/>
                <a:cs typeface="Arial" panose="020B0604020202020204" pitchFamily="34" charset="0"/>
              </a:rPr>
              <a:t>تمرين جاهزية المهمة ........</a:t>
            </a:r>
            <a:endParaRPr lang="en-US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42B0119F-94EE-40DA-8D86-44F7390303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292628"/>
              </p:ext>
            </p:extLst>
          </p:nvPr>
        </p:nvGraphicFramePr>
        <p:xfrm>
          <a:off x="136618" y="1975757"/>
          <a:ext cx="7571763" cy="7416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xmlns="" val="2467797418"/>
                    </a:ext>
                  </a:extLst>
                </a:gridCol>
                <a:gridCol w="2338082">
                  <a:extLst>
                    <a:ext uri="{9D8B030D-6E8A-4147-A177-3AD203B41FA5}">
                      <a16:colId xmlns:a16="http://schemas.microsoft.com/office/drawing/2014/main" xmlns="" val="3974187649"/>
                    </a:ext>
                  </a:extLst>
                </a:gridCol>
                <a:gridCol w="1418666">
                  <a:extLst>
                    <a:ext uri="{9D8B030D-6E8A-4147-A177-3AD203B41FA5}">
                      <a16:colId xmlns:a16="http://schemas.microsoft.com/office/drawing/2014/main" xmlns="" val="498481579"/>
                    </a:ext>
                  </a:extLst>
                </a:gridCol>
                <a:gridCol w="2367215">
                  <a:extLst>
                    <a:ext uri="{9D8B030D-6E8A-4147-A177-3AD203B41FA5}">
                      <a16:colId xmlns:a16="http://schemas.microsoft.com/office/drawing/2014/main" xmlns="" val="34067916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ar-A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الوحــــــــــــــدة: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A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سرية الاستطلاع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A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التـــــــاريخ: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A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/ 12 / 2026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2712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قائد </a:t>
                      </a:r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+mn-cs"/>
                        </a:rPr>
                        <a:t>الوحـــــــدة: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رائد / ..........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المحكـــــــم: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رائد / ............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1968327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DF7502F3-28A4-42F7-A3DF-3061B4D68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842508"/>
              </p:ext>
            </p:extLst>
          </p:nvPr>
        </p:nvGraphicFramePr>
        <p:xfrm>
          <a:off x="4096363" y="2957314"/>
          <a:ext cx="3931328" cy="2966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275328">
                  <a:extLst>
                    <a:ext uri="{9D8B030D-6E8A-4147-A177-3AD203B41FA5}">
                      <a16:colId xmlns:a16="http://schemas.microsoft.com/office/drawing/2014/main" xmlns="" val="2467797418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xmlns="" val="498481579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xmlns="" val="3406791628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rtl="1"/>
                      <a:r>
                        <a:rPr lang="ar-A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عناصر التقييم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1"/>
                      <a:r>
                        <a:rPr lang="ar-A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العلامات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rtl="1"/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27128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القصوى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المكتسبة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19683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363538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	................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25329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363538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	................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03234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363538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	...............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49737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363538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إجمـــــالــــي العلامـــــــات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60368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363538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النسبــــــــــة المئويـــــــــة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1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63.33%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13709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363538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التقــــــــديـــــــر العـــــــام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1"/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مقبول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9328795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xmlns="" id="{6EC2845A-CB99-48D6-804B-9DD18B619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926442"/>
              </p:ext>
            </p:extLst>
          </p:nvPr>
        </p:nvGraphicFramePr>
        <p:xfrm>
          <a:off x="2290546" y="2957314"/>
          <a:ext cx="1800000" cy="18542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xmlns="" val="134554549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xmlns="" val="82071652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 rtl="1"/>
                      <a:r>
                        <a:rPr lang="ar-A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العلامات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rtl="1"/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71052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النسبة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النتيجة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1176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50%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راسب</a:t>
                      </a:r>
                      <a:endParaRPr lang="en-US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53495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60%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مقبول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9187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80%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جيد جداً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5708941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xmlns="" id="{F3D03AB3-C73F-41E0-AB3D-3284884A11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831702"/>
              </p:ext>
            </p:extLst>
          </p:nvPr>
        </p:nvGraphicFramePr>
        <p:xfrm>
          <a:off x="148851" y="5496504"/>
          <a:ext cx="2592000" cy="1008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xmlns="" val="3371729138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xmlns="" val="965116553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r" rtl="1"/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المحكـــــــم: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رائد / ............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362183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r" rtl="1"/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التوقيــــــع: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16437279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xmlns="" id="{14CD29F2-2E0A-4784-A918-3BFFCEDADF6F}"/>
                  </a:ext>
                </a:extLst>
              </p14:cNvPr>
              <p14:cNvContentPartPr/>
              <p14:nvPr/>
            </p14:nvContentPartPr>
            <p14:xfrm>
              <a:off x="523378" y="6055152"/>
              <a:ext cx="829840" cy="273078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4CD29F2-2E0A-4784-A918-3BFFCEDADF6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7260" y="6049044"/>
                <a:ext cx="842075" cy="285295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xmlns="" id="{9D037BE2-ABE8-43D4-B7EF-FE22DFBCA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364389"/>
              </p:ext>
            </p:extLst>
          </p:nvPr>
        </p:nvGraphicFramePr>
        <p:xfrm>
          <a:off x="127638" y="2957314"/>
          <a:ext cx="2160000" cy="18542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44000">
                  <a:extLst>
                    <a:ext uri="{9D8B030D-6E8A-4147-A177-3AD203B41FA5}">
                      <a16:colId xmlns:a16="http://schemas.microsoft.com/office/drawing/2014/main" xmlns="" val="1168091966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xmlns="" val="121229865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pPr algn="ctr" rtl="1"/>
                      <a:r>
                        <a:rPr lang="ar-A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ملاحظات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إدراج صورة / فيديو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66505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81930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07565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498667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390D703F-4097-4905-B084-6443B3FB33A4}"/>
              </a:ext>
            </a:extLst>
          </p:cNvPr>
          <p:cNvSpPr txBox="1"/>
          <p:nvPr/>
        </p:nvSpPr>
        <p:spPr>
          <a:xfrm>
            <a:off x="1786122" y="322454"/>
            <a:ext cx="63337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AE" sz="3200" b="1" dirty="0">
                <a:latin typeface="AbdoMaster-Bold" panose="02000500030000020004" pitchFamily="50" charset="-78"/>
                <a:cs typeface="AbdoMaster-Bold" panose="02000500030000020004" pitchFamily="50" charset="-78"/>
              </a:rPr>
              <a:t>فريق المحكمين – قائمة التقييم</a:t>
            </a:r>
            <a:endParaRPr lang="en-AE" sz="3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DD5A392C-364A-4332-8554-D389C8BD5491}"/>
              </a:ext>
            </a:extLst>
          </p:cNvPr>
          <p:cNvSpPr txBox="1"/>
          <p:nvPr/>
        </p:nvSpPr>
        <p:spPr>
          <a:xfrm>
            <a:off x="3279450" y="997215"/>
            <a:ext cx="3237463" cy="369332"/>
          </a:xfrm>
          <a:prstGeom prst="rect">
            <a:avLst/>
          </a:prstGeom>
          <a:solidFill>
            <a:srgbClr val="548235">
              <a:alpha val="40000"/>
            </a:srgbClr>
          </a:solidFill>
          <a:ln w="28575">
            <a:solidFill>
              <a:srgbClr val="FF0000"/>
            </a:solidFill>
            <a:prstDash val="dash"/>
          </a:ln>
        </p:spPr>
        <p:txBody>
          <a:bodyPr wrap="square" lIns="36000" tIns="36000" rIns="36000" bIns="36000" rtlCol="0">
            <a:noAutofit/>
          </a:bodyPr>
          <a:lstStyle/>
          <a:p>
            <a:pPr algn="justLow" defTabSz="914400" rtl="1"/>
            <a:endParaRPr lang="en-US" sz="17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168E70B8-82E8-4C3F-B435-A2F9FDEC8713}"/>
              </a:ext>
            </a:extLst>
          </p:cNvPr>
          <p:cNvCxnSpPr>
            <a:cxnSpLocks/>
            <a:stCxn id="22" idx="1"/>
            <a:endCxn id="24" idx="3"/>
          </p:cNvCxnSpPr>
          <p:nvPr/>
        </p:nvCxnSpPr>
        <p:spPr>
          <a:xfrm flipH="1">
            <a:off x="2892099" y="1181881"/>
            <a:ext cx="38735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4C10B315-ABC8-4F47-82D8-06F84C9AF65E}"/>
              </a:ext>
            </a:extLst>
          </p:cNvPr>
          <p:cNvSpPr txBox="1"/>
          <p:nvPr/>
        </p:nvSpPr>
        <p:spPr>
          <a:xfrm>
            <a:off x="217714" y="883919"/>
            <a:ext cx="2674385" cy="59592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algn="ctr" defTabSz="914400" rtl="1"/>
            <a:r>
              <a:rPr lang="ar-AE" sz="17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تعبأ تلقائياً حسب قائمة التقييم التي تم اختيارها في الصفحة السابقة</a:t>
            </a:r>
            <a:endParaRPr lang="en-US" sz="17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70E04155-A1C8-4886-82E1-F9C585C25A58}"/>
              </a:ext>
            </a:extLst>
          </p:cNvPr>
          <p:cNvSpPr txBox="1"/>
          <p:nvPr/>
        </p:nvSpPr>
        <p:spPr>
          <a:xfrm>
            <a:off x="3279450" y="1416930"/>
            <a:ext cx="3237464" cy="318950"/>
          </a:xfrm>
          <a:prstGeom prst="rect">
            <a:avLst/>
          </a:prstGeom>
          <a:solidFill>
            <a:srgbClr val="548235">
              <a:alpha val="40000"/>
            </a:srgbClr>
          </a:solidFill>
          <a:ln w="28575">
            <a:solidFill>
              <a:srgbClr val="FF0000"/>
            </a:solidFill>
            <a:prstDash val="dash"/>
          </a:ln>
        </p:spPr>
        <p:txBody>
          <a:bodyPr wrap="square" lIns="36000" tIns="36000" rIns="36000" bIns="36000" rtlCol="0">
            <a:noAutofit/>
          </a:bodyPr>
          <a:lstStyle/>
          <a:p>
            <a:pPr algn="justLow" defTabSz="914400" rtl="1"/>
            <a:endParaRPr lang="en-US" sz="17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xmlns="" id="{A587B68D-B84C-4763-9DB0-AF7A52252D9F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>
          <a:xfrm flipV="1">
            <a:off x="6516914" y="1573955"/>
            <a:ext cx="387350" cy="24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99C7276A-8C77-4EAC-A5F5-495168393232}"/>
              </a:ext>
            </a:extLst>
          </p:cNvPr>
          <p:cNvSpPr txBox="1"/>
          <p:nvPr/>
        </p:nvSpPr>
        <p:spPr>
          <a:xfrm>
            <a:off x="6904264" y="1406798"/>
            <a:ext cx="2581054" cy="3343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algn="ctr" defTabSz="914400" rtl="1"/>
            <a:r>
              <a:rPr lang="ar-AE" sz="1700" b="1" dirty="0">
                <a:solidFill>
                  <a:srgbClr val="FF0000"/>
                </a:solidFill>
                <a:latin typeface="Arial" panose="020B0604020202020204" pitchFamily="34" charset="0"/>
              </a:rPr>
              <a:t>تعبأ تلقائياً حسب مدخلات المحكم</a:t>
            </a:r>
            <a:endParaRPr lang="en-US" sz="17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xmlns="" id="{61169D12-B059-47CB-A677-B2621CBE8D2F}"/>
              </a:ext>
            </a:extLst>
          </p:cNvPr>
          <p:cNvSpPr/>
          <p:nvPr/>
        </p:nvSpPr>
        <p:spPr>
          <a:xfrm>
            <a:off x="4607276" y="6296690"/>
            <a:ext cx="1407412" cy="458586"/>
          </a:xfrm>
          <a:prstGeom prst="roundRect">
            <a:avLst/>
          </a:prstGeom>
          <a:solidFill>
            <a:schemeClr val="bg2"/>
          </a:solidFill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000" b="1" dirty="0">
                <a:solidFill>
                  <a:schemeClr val="tx1"/>
                </a:solidFill>
                <a:latin typeface="AbdoMaster-Bold" panose="02000500030000020004" pitchFamily="50" charset="-78"/>
                <a:cs typeface="AbdoMaster-Bold" panose="02000500030000020004" pitchFamily="50" charset="-78"/>
              </a:rPr>
              <a:t>حفظ</a:t>
            </a:r>
            <a:endParaRPr lang="en-AE" sz="2000" b="1" dirty="0">
              <a:solidFill>
                <a:schemeClr val="tx1"/>
              </a:solidFill>
              <a:latin typeface="AbdoMaster-Bold" panose="02000500030000020004" pitchFamily="50" charset="-78"/>
              <a:cs typeface="AbdoMaster-Bold" panose="02000500030000020004" pitchFamily="50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xmlns="" id="{714404BA-11F2-4728-AB3C-A2192165A4CB}"/>
              </a:ext>
            </a:extLst>
          </p:cNvPr>
          <p:cNvSpPr/>
          <p:nvPr/>
        </p:nvSpPr>
        <p:spPr>
          <a:xfrm>
            <a:off x="2892099" y="6296690"/>
            <a:ext cx="1407412" cy="458586"/>
          </a:xfrm>
          <a:prstGeom prst="roundRect">
            <a:avLst/>
          </a:prstGeom>
          <a:solidFill>
            <a:schemeClr val="bg2"/>
          </a:solidFill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000" b="1" dirty="0">
                <a:solidFill>
                  <a:schemeClr val="tx1"/>
                </a:solidFill>
                <a:latin typeface="AbdoMaster-Bold" panose="02000500030000020004" pitchFamily="50" charset="-78"/>
                <a:cs typeface="AbdoMaster-Bold" panose="02000500030000020004" pitchFamily="50" charset="-78"/>
              </a:rPr>
              <a:t>اعتماد</a:t>
            </a:r>
            <a:endParaRPr lang="en-AE" sz="2000" b="1" dirty="0">
              <a:solidFill>
                <a:schemeClr val="tx1"/>
              </a:solidFill>
              <a:latin typeface="AbdoMaster-Bold" panose="02000500030000020004" pitchFamily="50" charset="-78"/>
              <a:cs typeface="AbdoMaster-Bold" panose="02000500030000020004" pitchFamily="50" charset="-78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3B9E687A-DA87-45BB-BABB-7183D78F1588}"/>
              </a:ext>
            </a:extLst>
          </p:cNvPr>
          <p:cNvSpPr txBox="1"/>
          <p:nvPr/>
        </p:nvSpPr>
        <p:spPr>
          <a:xfrm>
            <a:off x="127638" y="1970526"/>
            <a:ext cx="6098991" cy="369332"/>
          </a:xfrm>
          <a:prstGeom prst="rect">
            <a:avLst/>
          </a:prstGeom>
          <a:solidFill>
            <a:srgbClr val="548235">
              <a:alpha val="40000"/>
            </a:srgbClr>
          </a:solidFill>
          <a:ln w="28575">
            <a:solidFill>
              <a:srgbClr val="0066FF"/>
            </a:solidFill>
            <a:prstDash val="dash"/>
          </a:ln>
        </p:spPr>
        <p:txBody>
          <a:bodyPr wrap="square" lIns="36000" tIns="36000" rIns="36000" bIns="36000" rtlCol="0">
            <a:noAutofit/>
          </a:bodyPr>
          <a:lstStyle/>
          <a:p>
            <a:pPr algn="justLow" defTabSz="914400" rtl="1"/>
            <a:endParaRPr lang="en-US" sz="17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xmlns="" id="{870172DC-AC2E-4E66-BD6F-95C0AF5A26FE}"/>
              </a:ext>
            </a:extLst>
          </p:cNvPr>
          <p:cNvCxnSpPr>
            <a:cxnSpLocks/>
            <a:stCxn id="30" idx="3"/>
            <a:endCxn id="35" idx="1"/>
          </p:cNvCxnSpPr>
          <p:nvPr/>
        </p:nvCxnSpPr>
        <p:spPr>
          <a:xfrm flipV="1">
            <a:off x="6226629" y="1578249"/>
            <a:ext cx="677635" cy="576943"/>
          </a:xfrm>
          <a:prstGeom prst="straightConnector1">
            <a:avLst/>
          </a:prstGeom>
          <a:ln w="28575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DD86A32E-66F6-48F6-9610-46093EBF9C33}"/>
              </a:ext>
            </a:extLst>
          </p:cNvPr>
          <p:cNvSpPr txBox="1"/>
          <p:nvPr/>
        </p:nvSpPr>
        <p:spPr>
          <a:xfrm>
            <a:off x="6904264" y="1411092"/>
            <a:ext cx="2581054" cy="334313"/>
          </a:xfrm>
          <a:prstGeom prst="rect">
            <a:avLst/>
          </a:prstGeom>
          <a:noFill/>
          <a:ln w="28575">
            <a:solidFill>
              <a:srgbClr val="0066FF"/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algn="ctr" defTabSz="914400" rtl="1"/>
            <a:r>
              <a:rPr lang="ar-AE" sz="1700" b="1" dirty="0">
                <a:solidFill>
                  <a:srgbClr val="FF0000"/>
                </a:solidFill>
                <a:latin typeface="Arial" panose="020B0604020202020204" pitchFamily="34" charset="0"/>
              </a:rPr>
              <a:t>تعبأ تلقائياً حسب مدخلات المحكم</a:t>
            </a:r>
            <a:endParaRPr lang="en-US" sz="17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6355559B-2175-48B3-B706-55EF41985B78}"/>
              </a:ext>
            </a:extLst>
          </p:cNvPr>
          <p:cNvSpPr txBox="1"/>
          <p:nvPr/>
        </p:nvSpPr>
        <p:spPr>
          <a:xfrm>
            <a:off x="127639" y="2370450"/>
            <a:ext cx="6098990" cy="369331"/>
          </a:xfrm>
          <a:prstGeom prst="rect">
            <a:avLst/>
          </a:prstGeom>
          <a:solidFill>
            <a:srgbClr val="548235">
              <a:alpha val="40000"/>
            </a:srgbClr>
          </a:solidFill>
          <a:ln w="28575">
            <a:solidFill>
              <a:srgbClr val="FF0000"/>
            </a:solidFill>
            <a:prstDash val="dash"/>
          </a:ln>
        </p:spPr>
        <p:txBody>
          <a:bodyPr wrap="square" lIns="36000" tIns="36000" rIns="36000" bIns="36000" rtlCol="0">
            <a:noAutofit/>
          </a:bodyPr>
          <a:lstStyle/>
          <a:p>
            <a:pPr algn="justLow" defTabSz="914400" rtl="1"/>
            <a:endParaRPr lang="en-US" sz="17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xmlns="" id="{505DA15D-C0A8-4B4E-9E12-00524351383B}"/>
              </a:ext>
            </a:extLst>
          </p:cNvPr>
          <p:cNvCxnSpPr>
            <a:cxnSpLocks/>
            <a:stCxn id="36" idx="3"/>
            <a:endCxn id="38" idx="1"/>
          </p:cNvCxnSpPr>
          <p:nvPr/>
        </p:nvCxnSpPr>
        <p:spPr>
          <a:xfrm flipV="1">
            <a:off x="6226629" y="2108979"/>
            <a:ext cx="1640662" cy="44613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13BDA8E7-F904-42D6-B890-33F82CA4950B}"/>
              </a:ext>
            </a:extLst>
          </p:cNvPr>
          <p:cNvSpPr txBox="1"/>
          <p:nvPr/>
        </p:nvSpPr>
        <p:spPr>
          <a:xfrm>
            <a:off x="7867291" y="1811017"/>
            <a:ext cx="1618027" cy="59592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algn="ctr" defTabSz="914400" rtl="1"/>
            <a:r>
              <a:rPr lang="ar-AE" sz="1700" b="1" dirty="0">
                <a:solidFill>
                  <a:srgbClr val="FF0000"/>
                </a:solidFill>
                <a:latin typeface="Arial" panose="020B0604020202020204" pitchFamily="34" charset="0"/>
              </a:rPr>
              <a:t>تعبأ تلقائياً حسب قاعدة البيانات</a:t>
            </a:r>
            <a:endParaRPr lang="en-US" sz="17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05FAD707-7EA1-482B-B8AD-58CDF4D3D5B2}"/>
              </a:ext>
            </a:extLst>
          </p:cNvPr>
          <p:cNvSpPr txBox="1"/>
          <p:nvPr/>
        </p:nvSpPr>
        <p:spPr>
          <a:xfrm>
            <a:off x="4953000" y="2897624"/>
            <a:ext cx="3166877" cy="1913890"/>
          </a:xfrm>
          <a:prstGeom prst="rect">
            <a:avLst/>
          </a:prstGeom>
          <a:solidFill>
            <a:srgbClr val="548235">
              <a:alpha val="40000"/>
            </a:srgbClr>
          </a:solidFill>
          <a:ln w="28575">
            <a:solidFill>
              <a:srgbClr val="FF0000"/>
            </a:solidFill>
            <a:prstDash val="dash"/>
          </a:ln>
        </p:spPr>
        <p:txBody>
          <a:bodyPr wrap="square" lIns="36000" tIns="36000" rIns="36000" bIns="36000" rtlCol="0">
            <a:noAutofit/>
          </a:bodyPr>
          <a:lstStyle/>
          <a:p>
            <a:pPr algn="justLow" defTabSz="914400" rtl="1"/>
            <a:endParaRPr lang="en-US" sz="17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xmlns="" id="{7C0A67A1-FD91-4D5A-B1D0-4CB4D3EEFDFD}"/>
              </a:ext>
            </a:extLst>
          </p:cNvPr>
          <p:cNvCxnSpPr>
            <a:cxnSpLocks/>
            <a:stCxn id="41" idx="3"/>
            <a:endCxn id="43" idx="2"/>
          </p:cNvCxnSpPr>
          <p:nvPr/>
        </p:nvCxnSpPr>
        <p:spPr>
          <a:xfrm flipV="1">
            <a:off x="8119877" y="2400229"/>
            <a:ext cx="556428" cy="14543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0BE33A10-0F54-4EFF-8A01-0C62931B6978}"/>
              </a:ext>
            </a:extLst>
          </p:cNvPr>
          <p:cNvSpPr txBox="1"/>
          <p:nvPr/>
        </p:nvSpPr>
        <p:spPr>
          <a:xfrm>
            <a:off x="7867291" y="1804306"/>
            <a:ext cx="1618027" cy="59592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algn="ctr" defTabSz="914400" rtl="1"/>
            <a:r>
              <a:rPr lang="ar-AE" sz="1700" b="1" dirty="0">
                <a:solidFill>
                  <a:srgbClr val="FF0000"/>
                </a:solidFill>
                <a:latin typeface="Arial" panose="020B0604020202020204" pitchFamily="34" charset="0"/>
              </a:rPr>
              <a:t>تعبأ تلقائياً حسب قاعدة البيانات</a:t>
            </a:r>
            <a:endParaRPr lang="en-US" sz="17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B5D7CE54-68DF-4949-8855-6A529C4D676C}"/>
              </a:ext>
            </a:extLst>
          </p:cNvPr>
          <p:cNvSpPr txBox="1"/>
          <p:nvPr/>
        </p:nvSpPr>
        <p:spPr>
          <a:xfrm>
            <a:off x="4136289" y="2975576"/>
            <a:ext cx="724525" cy="1835938"/>
          </a:xfrm>
          <a:prstGeom prst="rect">
            <a:avLst/>
          </a:prstGeom>
          <a:solidFill>
            <a:srgbClr val="548235">
              <a:alpha val="40000"/>
            </a:srgbClr>
          </a:solidFill>
          <a:ln w="28575">
            <a:solidFill>
              <a:srgbClr val="0066FF"/>
            </a:solidFill>
            <a:prstDash val="dash"/>
          </a:ln>
        </p:spPr>
        <p:txBody>
          <a:bodyPr wrap="square" lIns="36000" tIns="36000" rIns="36000" bIns="36000" rtlCol="0">
            <a:noAutofit/>
          </a:bodyPr>
          <a:lstStyle/>
          <a:p>
            <a:pPr algn="justLow" defTabSz="914400" rtl="1"/>
            <a:endParaRPr lang="en-US" sz="17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xmlns="" id="{1B3F72A8-BA96-4DFD-9356-6796B7DFA5A4}"/>
              </a:ext>
            </a:extLst>
          </p:cNvPr>
          <p:cNvCxnSpPr>
            <a:cxnSpLocks/>
            <a:stCxn id="51" idx="3"/>
            <a:endCxn id="53" idx="1"/>
          </p:cNvCxnSpPr>
          <p:nvPr/>
        </p:nvCxnSpPr>
        <p:spPr>
          <a:xfrm>
            <a:off x="4860814" y="3893545"/>
            <a:ext cx="3375401" cy="1300248"/>
          </a:xfrm>
          <a:prstGeom prst="straightConnector1">
            <a:avLst/>
          </a:prstGeom>
          <a:ln w="28575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8DAFE466-C4AD-4BAE-A50B-B89682D1B4F9}"/>
              </a:ext>
            </a:extLst>
          </p:cNvPr>
          <p:cNvSpPr txBox="1"/>
          <p:nvPr/>
        </p:nvSpPr>
        <p:spPr>
          <a:xfrm>
            <a:off x="8236215" y="4895831"/>
            <a:ext cx="1618027" cy="595923"/>
          </a:xfrm>
          <a:prstGeom prst="rect">
            <a:avLst/>
          </a:prstGeom>
          <a:noFill/>
          <a:ln w="28575">
            <a:solidFill>
              <a:srgbClr val="0066FF"/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algn="ctr" defTabSz="914400" rtl="1"/>
            <a:r>
              <a:rPr lang="ar-AE" sz="1700" b="1" dirty="0">
                <a:solidFill>
                  <a:srgbClr val="FF0000"/>
                </a:solidFill>
                <a:latin typeface="Arial" panose="020B0604020202020204" pitchFamily="34" charset="0"/>
              </a:rPr>
              <a:t>تعبأ العلامة المكتسبة من قبل المحكم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xmlns="" id="{BC6898CA-4721-4BD8-A760-6AB117D9157A}"/>
              </a:ext>
            </a:extLst>
          </p:cNvPr>
          <p:cNvCxnSpPr>
            <a:cxnSpLocks/>
            <a:endCxn id="71" idx="3"/>
          </p:cNvCxnSpPr>
          <p:nvPr/>
        </p:nvCxnSpPr>
        <p:spPr>
          <a:xfrm flipH="1">
            <a:off x="2740851" y="4811494"/>
            <a:ext cx="456628" cy="38230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995A0352-CCC1-47A4-98B2-4F871E5F8EDA}"/>
              </a:ext>
            </a:extLst>
          </p:cNvPr>
          <p:cNvSpPr txBox="1"/>
          <p:nvPr/>
        </p:nvSpPr>
        <p:spPr>
          <a:xfrm>
            <a:off x="154866" y="4895832"/>
            <a:ext cx="2585985" cy="595923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algn="ctr" defTabSz="914400" rtl="1"/>
            <a:r>
              <a:rPr lang="ar-AE" sz="1700" b="1" dirty="0">
                <a:solidFill>
                  <a:srgbClr val="FF0000"/>
                </a:solidFill>
                <a:latin typeface="Arial" panose="020B0604020202020204" pitchFamily="34" charset="0"/>
              </a:rPr>
              <a:t>يقوم النظام بحساب النسبة والنتيجة حسب معايير التقييم المعتمدة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57A760F5-5956-44EB-9CB9-4DAF3606F6D1}"/>
              </a:ext>
            </a:extLst>
          </p:cNvPr>
          <p:cNvSpPr txBox="1"/>
          <p:nvPr/>
        </p:nvSpPr>
        <p:spPr>
          <a:xfrm>
            <a:off x="4067394" y="4871184"/>
            <a:ext cx="1748062" cy="1102896"/>
          </a:xfrm>
          <a:prstGeom prst="rect">
            <a:avLst/>
          </a:prstGeom>
          <a:solidFill>
            <a:srgbClr val="548235">
              <a:alpha val="40000"/>
            </a:srgbClr>
          </a:solidFill>
          <a:ln w="28575"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 lIns="36000" tIns="36000" rIns="36000" bIns="36000" rtlCol="0">
            <a:noAutofit/>
          </a:bodyPr>
          <a:lstStyle/>
          <a:p>
            <a:pPr algn="justLow" defTabSz="914400" rtl="1"/>
            <a:endParaRPr lang="en-US" sz="17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xmlns="" id="{6FE479D6-7113-49A0-9898-B64ECA57C1EA}"/>
              </a:ext>
            </a:extLst>
          </p:cNvPr>
          <p:cNvCxnSpPr>
            <a:cxnSpLocks/>
            <a:stCxn id="73" idx="1"/>
            <a:endCxn id="71" idx="3"/>
          </p:cNvCxnSpPr>
          <p:nvPr/>
        </p:nvCxnSpPr>
        <p:spPr>
          <a:xfrm flipH="1" flipV="1">
            <a:off x="2740851" y="5193794"/>
            <a:ext cx="1326543" cy="228838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3E408135-AE63-4B10-ABDC-5D7DDA315462}"/>
              </a:ext>
            </a:extLst>
          </p:cNvPr>
          <p:cNvSpPr txBox="1"/>
          <p:nvPr/>
        </p:nvSpPr>
        <p:spPr>
          <a:xfrm>
            <a:off x="2327563" y="2947789"/>
            <a:ext cx="1739831" cy="1863705"/>
          </a:xfrm>
          <a:prstGeom prst="rect">
            <a:avLst/>
          </a:prstGeom>
          <a:solidFill>
            <a:srgbClr val="548235">
              <a:alpha val="40000"/>
            </a:srgbClr>
          </a:solidFill>
          <a:ln w="28575"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 lIns="36000" tIns="36000" rIns="36000" bIns="36000" rtlCol="0">
            <a:noAutofit/>
          </a:bodyPr>
          <a:lstStyle/>
          <a:p>
            <a:pPr algn="justLow" defTabSz="914400" rtl="1"/>
            <a:endParaRPr lang="en-US" sz="17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xmlns="" id="{83606D3A-8C89-4A94-BE65-0A0C16B5E5E4}"/>
              </a:ext>
            </a:extLst>
          </p:cNvPr>
          <p:cNvSpPr txBox="1"/>
          <p:nvPr/>
        </p:nvSpPr>
        <p:spPr>
          <a:xfrm>
            <a:off x="217714" y="3746887"/>
            <a:ext cx="1918052" cy="9960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algn="ctr" defTabSz="914400" rtl="1"/>
            <a:r>
              <a:rPr lang="ar-AE" sz="1500" b="1" dirty="0">
                <a:latin typeface="Arial" panose="020B0604020202020204" pitchFamily="34" charset="0"/>
                <a:cs typeface="Arial" panose="020B0604020202020204" pitchFamily="34" charset="0"/>
              </a:rPr>
              <a:t>اضافه خاصيه تحميل الصور و الفيديو من الالبوم او من الكاميرا بطريقه مباشره في كل بند من بنود التقييم </a:t>
            </a:r>
            <a:endParaRPr 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9CB976AB-3FFF-4C97-9A6F-5D3DF839AB0B}"/>
              </a:ext>
            </a:extLst>
          </p:cNvPr>
          <p:cNvSpPr txBox="1"/>
          <p:nvPr/>
        </p:nvSpPr>
        <p:spPr>
          <a:xfrm>
            <a:off x="6184090" y="6196079"/>
            <a:ext cx="3573059" cy="56514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algn="justLow" defTabSz="914400" rtl="1"/>
            <a:r>
              <a:rPr lang="ar-AE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(حفظ) = قابل للتعديل</a:t>
            </a:r>
          </a:p>
          <a:p>
            <a:pPr algn="justLow" defTabSz="914400" rtl="1"/>
            <a:r>
              <a:rPr lang="ar-AE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(اعتماد) = غير قابل للتعديل ويرسل لقاعدة البيانات</a:t>
            </a:r>
            <a:endParaRPr lang="en-US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xmlns="" id="{FC6ECEC4-5740-42AC-8A12-75E26435F46D}"/>
              </a:ext>
            </a:extLst>
          </p:cNvPr>
          <p:cNvCxnSpPr>
            <a:cxnSpLocks/>
            <a:stCxn id="85" idx="1"/>
          </p:cNvCxnSpPr>
          <p:nvPr/>
        </p:nvCxnSpPr>
        <p:spPr>
          <a:xfrm flipH="1">
            <a:off x="6014688" y="6478652"/>
            <a:ext cx="169402" cy="17127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xmlns="" id="{4E44C1F6-EF71-415B-93AC-95F51A266EB4}"/>
              </a:ext>
            </a:extLst>
          </p:cNvPr>
          <p:cNvSpPr txBox="1"/>
          <p:nvPr/>
        </p:nvSpPr>
        <p:spPr>
          <a:xfrm>
            <a:off x="2967485" y="5414509"/>
            <a:ext cx="1114394" cy="857533"/>
          </a:xfrm>
          <a:prstGeom prst="rect">
            <a:avLst/>
          </a:prstGeom>
          <a:noFill/>
          <a:ln w="28575">
            <a:solidFill>
              <a:srgbClr val="FF66CC"/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algn="ctr" defTabSz="914400" rtl="1"/>
            <a:r>
              <a:rPr lang="ar-AE" sz="1700" b="1" dirty="0">
                <a:solidFill>
                  <a:srgbClr val="FF0000"/>
                </a:solidFill>
                <a:latin typeface="Arial" panose="020B0604020202020204" pitchFamily="34" charset="0"/>
              </a:rPr>
              <a:t>تعبأ تلقائياً حسب قاعدة البيانات</a:t>
            </a:r>
            <a:endParaRPr lang="en-US" sz="17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xmlns="" id="{B0C6842D-C44F-4D47-8323-EF14F68E3D48}"/>
              </a:ext>
            </a:extLst>
          </p:cNvPr>
          <p:cNvCxnSpPr>
            <a:cxnSpLocks/>
          </p:cNvCxnSpPr>
          <p:nvPr/>
        </p:nvCxnSpPr>
        <p:spPr>
          <a:xfrm flipV="1">
            <a:off x="2799913" y="5804912"/>
            <a:ext cx="285861" cy="233478"/>
          </a:xfrm>
          <a:prstGeom prst="straightConnector1">
            <a:avLst/>
          </a:prstGeom>
          <a:ln w="28575">
            <a:solidFill>
              <a:srgbClr val="FF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xmlns="" id="{C15420BB-1835-42A5-BA2A-94555ED75381}"/>
              </a:ext>
            </a:extLst>
          </p:cNvPr>
          <p:cNvSpPr txBox="1"/>
          <p:nvPr/>
        </p:nvSpPr>
        <p:spPr>
          <a:xfrm>
            <a:off x="122275" y="5479680"/>
            <a:ext cx="2677638" cy="1117420"/>
          </a:xfrm>
          <a:prstGeom prst="rect">
            <a:avLst/>
          </a:prstGeom>
          <a:solidFill>
            <a:srgbClr val="548235">
              <a:alpha val="40000"/>
            </a:srgbClr>
          </a:solidFill>
          <a:ln w="28575">
            <a:solidFill>
              <a:srgbClr val="FF66CC"/>
            </a:solidFill>
            <a:prstDash val="dash"/>
          </a:ln>
        </p:spPr>
        <p:txBody>
          <a:bodyPr wrap="square" lIns="36000" tIns="36000" rIns="36000" bIns="36000" rtlCol="0">
            <a:noAutofit/>
          </a:bodyPr>
          <a:lstStyle/>
          <a:p>
            <a:pPr algn="justLow" defTabSz="914400" rtl="1"/>
            <a:endParaRPr lang="en-US" sz="17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5" name="Graphic 44" descr="Back RTL">
            <a:hlinkClick r:id="rId4" action="ppaction://hlinksldjump"/>
            <a:extLst>
              <a:ext uri="{FF2B5EF4-FFF2-40B4-BE49-F238E27FC236}">
                <a16:creationId xmlns:a16="http://schemas.microsoft.com/office/drawing/2014/main" xmlns="" id="{E560E328-EEA6-4879-8D59-EB16C12AA3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9041691" y="39650"/>
            <a:ext cx="377562" cy="377562"/>
          </a:xfrm>
          <a:prstGeom prst="rect">
            <a:avLst/>
          </a:prstGeom>
        </p:spPr>
      </p:pic>
      <p:sp>
        <p:nvSpPr>
          <p:cNvPr id="46" name="TextBox 45">
            <a:hlinkClick r:id="rId4" action="ppaction://hlinksldjump"/>
            <a:extLst>
              <a:ext uri="{FF2B5EF4-FFF2-40B4-BE49-F238E27FC236}">
                <a16:creationId xmlns:a16="http://schemas.microsoft.com/office/drawing/2014/main" xmlns="" id="{D8602897-8954-4DEE-9988-F916CFE10E85}"/>
              </a:ext>
            </a:extLst>
          </p:cNvPr>
          <p:cNvSpPr txBox="1"/>
          <p:nvPr/>
        </p:nvSpPr>
        <p:spPr>
          <a:xfrm>
            <a:off x="8445434" y="338362"/>
            <a:ext cx="14605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doMaster-Bold" panose="02000500030000020004" pitchFamily="50" charset="-78"/>
                <a:ea typeface="+mn-ea"/>
                <a:cs typeface="AbdoMaster-Bold" panose="02000500030000020004" pitchFamily="50" charset="-78"/>
              </a:rPr>
              <a:t>العودة للقائمة الرئيسية</a:t>
            </a:r>
            <a:endParaRPr kumimoji="0" lang="en-A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441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2" grpId="0" animBg="1"/>
      <p:bldP spid="24" grpId="0" animBg="1"/>
      <p:bldP spid="32" grpId="0" animBg="1"/>
      <p:bldP spid="34" grpId="0" animBg="1"/>
      <p:bldP spid="25" grpId="0" animBg="1"/>
      <p:bldP spid="26" grpId="0" animBg="1"/>
      <p:bldP spid="30" grpId="0" animBg="1"/>
      <p:bldP spid="35" grpId="0" animBg="1"/>
      <p:bldP spid="36" grpId="0" animBg="1"/>
      <p:bldP spid="38" grpId="0" animBg="1"/>
      <p:bldP spid="41" grpId="0" animBg="1"/>
      <p:bldP spid="43" grpId="0" animBg="1"/>
      <p:bldP spid="51" grpId="0" animBg="1"/>
      <p:bldP spid="53" grpId="0" animBg="1"/>
      <p:bldP spid="71" grpId="0" animBg="1"/>
      <p:bldP spid="73" grpId="0" animBg="1"/>
      <p:bldP spid="82" grpId="0" animBg="1"/>
      <p:bldP spid="83" grpId="0" animBg="1"/>
      <p:bldP spid="85" grpId="0" animBg="1"/>
      <p:bldP spid="94" grpId="0" animBg="1"/>
      <p:bldP spid="9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5415BA5-CB62-4A28-BEA0-76B13CECFD93}"/>
              </a:ext>
            </a:extLst>
          </p:cNvPr>
          <p:cNvSpPr txBox="1"/>
          <p:nvPr/>
        </p:nvSpPr>
        <p:spPr>
          <a:xfrm>
            <a:off x="1229695" y="228431"/>
            <a:ext cx="74466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AE" sz="3200" b="1" dirty="0">
                <a:latin typeface="AbdoMaster-Bold" panose="02000500030000020004" pitchFamily="50" charset="-78"/>
                <a:cs typeface="AbdoMaster-Bold" panose="02000500030000020004" pitchFamily="50" charset="-78"/>
              </a:rPr>
              <a:t>فريق المحكمين – غرف المحادثة</a:t>
            </a:r>
          </a:p>
        </p:txBody>
      </p:sp>
      <p:pic>
        <p:nvPicPr>
          <p:cNvPr id="5" name="Graphic 4" descr="Back RTL">
            <a:hlinkClick r:id="rId2" action="ppaction://hlinksldjump"/>
            <a:extLst>
              <a:ext uri="{FF2B5EF4-FFF2-40B4-BE49-F238E27FC236}">
                <a16:creationId xmlns:a16="http://schemas.microsoft.com/office/drawing/2014/main" xmlns="" id="{EC8FA263-EB14-4048-B9AC-99FE53757A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041691" y="39650"/>
            <a:ext cx="377562" cy="377562"/>
          </a:xfrm>
          <a:prstGeom prst="rect">
            <a:avLst/>
          </a:prstGeom>
        </p:spPr>
      </p:pic>
      <p:sp>
        <p:nvSpPr>
          <p:cNvPr id="6" name="TextBox 5">
            <a:hlinkClick r:id="rId2" action="ppaction://hlinksldjump"/>
            <a:extLst>
              <a:ext uri="{FF2B5EF4-FFF2-40B4-BE49-F238E27FC236}">
                <a16:creationId xmlns:a16="http://schemas.microsoft.com/office/drawing/2014/main" xmlns="" id="{AD81BBCD-6F67-42AE-893A-AB775FE81D95}"/>
              </a:ext>
            </a:extLst>
          </p:cNvPr>
          <p:cNvSpPr txBox="1"/>
          <p:nvPr/>
        </p:nvSpPr>
        <p:spPr>
          <a:xfrm>
            <a:off x="8445434" y="338362"/>
            <a:ext cx="14605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doMaster-Bold" panose="02000500030000020004" pitchFamily="50" charset="-78"/>
                <a:ea typeface="+mn-ea"/>
                <a:cs typeface="AbdoMaster-Bold" panose="02000500030000020004" pitchFamily="50" charset="-78"/>
              </a:rPr>
              <a:t>العودة للقائمة الرئيسية</a:t>
            </a:r>
            <a:endParaRPr kumimoji="0" lang="en-A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24F04AF2-0457-4547-96E4-B0E82C5070EA}"/>
              </a:ext>
            </a:extLst>
          </p:cNvPr>
          <p:cNvSpPr txBox="1"/>
          <p:nvPr/>
        </p:nvSpPr>
        <p:spPr>
          <a:xfrm>
            <a:off x="5500914" y="1089281"/>
            <a:ext cx="4152534" cy="485438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lIns="72000" tIns="72000" rIns="72000" bIns="72000" rtlCol="0">
            <a:spAutoFit/>
          </a:bodyPr>
          <a:lstStyle/>
          <a:p>
            <a:pPr marL="342900" indent="-342900" algn="justLow" defTabSz="914400" rtl="1">
              <a:buFont typeface="+mj-lt"/>
              <a:buAutoNum type="arabicPeriod"/>
            </a:pP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يحدد فريق إدارة النظام صلاحيات إنشاء غرف المحادثة أو الدخول عليها.</a:t>
            </a:r>
          </a:p>
          <a:p>
            <a:pPr marL="342900" indent="-342900" algn="justLow" defTabSz="914400" rtl="1">
              <a:buFont typeface="+mj-lt"/>
              <a:buAutoNum type="arabicPeriod"/>
            </a:pP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تعيين مشرف لكل غرفة على أن تشمل صلاحياته إضافة أو حذف الأعضاء.</a:t>
            </a:r>
          </a:p>
          <a:p>
            <a:pPr marL="342900" indent="-342900" algn="justLow" defTabSz="914400" rtl="1">
              <a:buFont typeface="+mj-lt"/>
              <a:buAutoNum type="arabicPeriod"/>
            </a:pP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تتضمن إعدادات الغرف قائمة الأعضاء ووظائفهم وآخر نشاط (</a:t>
            </a: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Last Activity</a:t>
            </a: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indent="-342900" algn="justLow" defTabSz="914400" rtl="1">
              <a:buFont typeface="+mj-lt"/>
              <a:buAutoNum type="arabicPeriod"/>
            </a:pPr>
            <a:endParaRPr lang="ar-AE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Low" defTabSz="914400" rtl="1">
              <a:buFont typeface="+mj-lt"/>
              <a:buAutoNum type="arabicPeriod"/>
            </a:pP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إضافة إمكانية إرسال الملفات والصور والفيديو.</a:t>
            </a:r>
          </a:p>
          <a:p>
            <a:pPr marL="342900" indent="-342900" algn="justLow" defTabSz="914400" rtl="1">
              <a:buFont typeface="+mj-lt"/>
              <a:buAutoNum type="arabicPeriod"/>
            </a:pP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إمكانية أرسال رسائل صوتية أو الاتصال المرئي الجماعي والفردي (</a:t>
            </a: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Video Conference</a:t>
            </a: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indent="-342900" algn="justLow" defTabSz="914400" rtl="1">
              <a:buFont typeface="+mj-lt"/>
              <a:buAutoNum type="arabicPeriod"/>
            </a:pPr>
            <a:endParaRPr lang="ar-AE" sz="17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Low" defTabSz="914400" rtl="1">
              <a:buFont typeface="+mj-lt"/>
              <a:buAutoNum type="arabicPeriod"/>
            </a:pP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إضافة خاصية تأكيد الإرسال وتأكيد الاستلام  (</a:t>
            </a: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Delivery &amp; Read Receipts</a:t>
            </a: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) وكما يلي:</a:t>
            </a:r>
          </a:p>
          <a:p>
            <a:pPr marL="711200" indent="-347663" algn="justLow" defTabSz="914400" rtl="1">
              <a:buFont typeface="Wingdings" panose="05000000000000000000" pitchFamily="2" charset="2"/>
              <a:buChar char="v"/>
            </a:pP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تم الارسال = </a:t>
            </a: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</a:t>
            </a:r>
          </a:p>
          <a:p>
            <a:pPr marL="711200" indent="-347663" algn="justLow" defTabSz="914400" rtl="1">
              <a:buFont typeface="Wingdings" panose="05000000000000000000" pitchFamily="2" charset="2"/>
              <a:buChar char="v"/>
            </a:pPr>
            <a:r>
              <a:rPr lang="ar-AE" sz="1700" b="1" dirty="0">
                <a:latin typeface="Arial" panose="020B0604020202020204" pitchFamily="34" charset="0"/>
              </a:rPr>
              <a:t>تم الاستلام = </a:t>
            </a:r>
            <a:r>
              <a:rPr lang="ar-AE" sz="1700" b="1" dirty="0">
                <a:latin typeface="Arial" panose="020B0604020202020204" pitchFamily="34" charset="0"/>
                <a:sym typeface="Wingdings" panose="05000000000000000000" pitchFamily="2" charset="2"/>
              </a:rPr>
              <a:t>	</a:t>
            </a:r>
            <a:endParaRPr lang="ar-AE" sz="1700" b="1" dirty="0">
              <a:latin typeface="Arial" panose="020B0604020202020204" pitchFamily="34" charset="0"/>
            </a:endParaRPr>
          </a:p>
          <a:p>
            <a:pPr marL="711200" indent="-347663" algn="justLow" defTabSz="914400" rtl="1">
              <a:buFont typeface="Wingdings" panose="05000000000000000000" pitchFamily="2" charset="2"/>
              <a:buChar char="v"/>
            </a:pPr>
            <a:r>
              <a:rPr lang="ar-AE" sz="1700" b="1" dirty="0">
                <a:latin typeface="Arial" panose="020B0604020202020204" pitchFamily="34" charset="0"/>
              </a:rPr>
              <a:t>تمت القراءة = </a:t>
            </a:r>
            <a:r>
              <a:rPr lang="ar-AE" sz="1700" b="1" dirty="0">
                <a:solidFill>
                  <a:srgbClr val="3333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</a:t>
            </a:r>
          </a:p>
          <a:p>
            <a:pPr marL="342900" indent="-342900" algn="justLow" defTabSz="914400" rtl="1">
              <a:buFont typeface="+mj-lt"/>
              <a:buAutoNum type="arabicPeriod" startAt="7"/>
            </a:pP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إضافة خاصية عرض قائمة تأكيد الاستلام الجماعي في غرف محادثة المجموعات (</a:t>
            </a: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Seen By</a:t>
            </a: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313580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5415BA5-CB62-4A28-BEA0-76B13CECFD93}"/>
              </a:ext>
            </a:extLst>
          </p:cNvPr>
          <p:cNvSpPr txBox="1"/>
          <p:nvPr/>
        </p:nvSpPr>
        <p:spPr>
          <a:xfrm>
            <a:off x="1229695" y="228431"/>
            <a:ext cx="74466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AE" sz="3200" b="1" dirty="0">
                <a:latin typeface="AbdoMaster-Bold" panose="02000500030000020004" pitchFamily="50" charset="-78"/>
                <a:cs typeface="AbdoMaster-Bold" panose="02000500030000020004" pitchFamily="50" charset="-78"/>
              </a:rPr>
              <a:t>فريق المحكمين –مهام غير مكتملة</a:t>
            </a:r>
          </a:p>
        </p:txBody>
      </p:sp>
      <p:pic>
        <p:nvPicPr>
          <p:cNvPr id="5" name="Graphic 4" descr="Back RTL">
            <a:hlinkClick r:id="rId2" action="ppaction://hlinksldjump"/>
            <a:extLst>
              <a:ext uri="{FF2B5EF4-FFF2-40B4-BE49-F238E27FC236}">
                <a16:creationId xmlns:a16="http://schemas.microsoft.com/office/drawing/2014/main" xmlns="" id="{EC8FA263-EB14-4048-B9AC-99FE53757A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041691" y="39650"/>
            <a:ext cx="377562" cy="377562"/>
          </a:xfrm>
          <a:prstGeom prst="rect">
            <a:avLst/>
          </a:prstGeom>
        </p:spPr>
      </p:pic>
      <p:sp>
        <p:nvSpPr>
          <p:cNvPr id="6" name="TextBox 5">
            <a:hlinkClick r:id="rId2" action="ppaction://hlinksldjump"/>
            <a:extLst>
              <a:ext uri="{FF2B5EF4-FFF2-40B4-BE49-F238E27FC236}">
                <a16:creationId xmlns:a16="http://schemas.microsoft.com/office/drawing/2014/main" xmlns="" id="{AD81BBCD-6F67-42AE-893A-AB775FE81D95}"/>
              </a:ext>
            </a:extLst>
          </p:cNvPr>
          <p:cNvSpPr txBox="1"/>
          <p:nvPr/>
        </p:nvSpPr>
        <p:spPr>
          <a:xfrm>
            <a:off x="8445434" y="338362"/>
            <a:ext cx="14605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doMaster-Bold" panose="02000500030000020004" pitchFamily="50" charset="-78"/>
                <a:ea typeface="+mn-ea"/>
                <a:cs typeface="AbdoMaster-Bold" panose="02000500030000020004" pitchFamily="50" charset="-78"/>
              </a:rPr>
              <a:t>العودة للقائمة الرئيسية</a:t>
            </a:r>
            <a:endParaRPr kumimoji="0" lang="en-A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B20694DA-7129-4E74-A439-B265377F44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488536"/>
              </p:ext>
            </p:extLst>
          </p:nvPr>
        </p:nvGraphicFramePr>
        <p:xfrm>
          <a:off x="182987" y="1301546"/>
          <a:ext cx="9538448" cy="2462400"/>
        </p:xfrm>
        <a:graphic>
          <a:graphicData uri="http://schemas.openxmlformats.org/drawingml/2006/table">
            <a:tbl>
              <a:tblPr rtl="1" firstRow="1" bandRow="1">
                <a:tableStyleId>{10A1B5D5-9B99-4C35-A422-299274C87663}</a:tableStyleId>
              </a:tblPr>
              <a:tblGrid>
                <a:gridCol w="305757">
                  <a:extLst>
                    <a:ext uri="{9D8B030D-6E8A-4147-A177-3AD203B41FA5}">
                      <a16:colId xmlns:a16="http://schemas.microsoft.com/office/drawing/2014/main" xmlns="" val="162552603"/>
                    </a:ext>
                  </a:extLst>
                </a:gridCol>
                <a:gridCol w="1435460">
                  <a:extLst>
                    <a:ext uri="{9D8B030D-6E8A-4147-A177-3AD203B41FA5}">
                      <a16:colId xmlns:a16="http://schemas.microsoft.com/office/drawing/2014/main" xmlns="" val="3797806937"/>
                    </a:ext>
                  </a:extLst>
                </a:gridCol>
                <a:gridCol w="997527">
                  <a:extLst>
                    <a:ext uri="{9D8B030D-6E8A-4147-A177-3AD203B41FA5}">
                      <a16:colId xmlns:a16="http://schemas.microsoft.com/office/drawing/2014/main" xmlns="" val="1762133098"/>
                    </a:ext>
                  </a:extLst>
                </a:gridCol>
                <a:gridCol w="1454727">
                  <a:extLst>
                    <a:ext uri="{9D8B030D-6E8A-4147-A177-3AD203B41FA5}">
                      <a16:colId xmlns:a16="http://schemas.microsoft.com/office/drawing/2014/main" xmlns="" val="148192376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869546213"/>
                    </a:ext>
                  </a:extLst>
                </a:gridCol>
                <a:gridCol w="1288473">
                  <a:extLst>
                    <a:ext uri="{9D8B030D-6E8A-4147-A177-3AD203B41FA5}">
                      <a16:colId xmlns:a16="http://schemas.microsoft.com/office/drawing/2014/main" xmlns="" val="2465492809"/>
                    </a:ext>
                  </a:extLst>
                </a:gridCol>
                <a:gridCol w="1095446">
                  <a:extLst>
                    <a:ext uri="{9D8B030D-6E8A-4147-A177-3AD203B41FA5}">
                      <a16:colId xmlns:a16="http://schemas.microsoft.com/office/drawing/2014/main" xmlns="" val="785328992"/>
                    </a:ext>
                  </a:extLst>
                </a:gridCol>
                <a:gridCol w="1437058">
                  <a:extLst>
                    <a:ext uri="{9D8B030D-6E8A-4147-A177-3AD203B41FA5}">
                      <a16:colId xmlns:a16="http://schemas.microsoft.com/office/drawing/2014/main" xmlns="" val="2118855094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lang="ar-A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ت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lang="ar-A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اسم المهمة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lang="ar-A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فريق العمل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lang="ar-A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المكلف بالإجراء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lang="ar-A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توقيت الإنجاز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lang="ar-A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درجة الاسبقية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lang="ar-A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مؤشر الحالة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lang="ar-A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تغيير الحالة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68505714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lang="ar-A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lang="ar-A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تقييم أوامر سرية المشاة الآلية/1</a:t>
                      </a:r>
                      <a:endParaRPr 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lang="ar-A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فريق المحكمين</a:t>
                      </a:r>
                      <a:endParaRPr 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lang="ar-AE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مدني/ </a:t>
                      </a:r>
                      <a:r>
                        <a:rPr lang="ar-A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سالم علي</a:t>
                      </a:r>
                      <a:endParaRPr 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lang="ar-A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قبل سعت 1500 يوم 2026/5/15</a:t>
                      </a:r>
                      <a:endParaRPr 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lnSpc>
                          <a:spcPct val="100000"/>
                        </a:lnSpc>
                      </a:pPr>
                      <a:r>
                        <a:rPr lang="ar-AE" sz="1800" b="1" kern="120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عالية</a:t>
                      </a:r>
                      <a:endParaRPr lang="en-US" sz="1800" b="1" kern="1200" dirty="0">
                        <a:solidFill>
                          <a:schemeClr val="bg1"/>
                        </a:solidFill>
                        <a:highlight>
                          <a:srgbClr val="FF0000"/>
                        </a:highlight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lang="ar-AE" b="1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متأخرة</a:t>
                      </a:r>
                      <a:endParaRPr lang="en-US" b="1" dirty="0">
                        <a:highlight>
                          <a:srgbClr val="00FF0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</a:pPr>
                      <a:endParaRPr lang="en-US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78902301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lang="ar-A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lang="ar-A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تقييم التنقل التعبوي لسرية المشاة الآلية/1</a:t>
                      </a:r>
                      <a:endParaRPr 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lang="ar-A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فريق المحكمين</a:t>
                      </a:r>
                      <a:endParaRPr 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lang="ar-AE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مدني/ </a:t>
                      </a:r>
                      <a:r>
                        <a:rPr lang="ar-A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سالم علي</a:t>
                      </a:r>
                      <a:endParaRPr 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AE" b="1" dirty="0">
                          <a:latin typeface="Arial" panose="020B0604020202020204" pitchFamily="34" charset="0"/>
                          <a:cs typeface="+mn-cs"/>
                        </a:rPr>
                        <a:t>قبل سعت 1800 يوم 2026/5/15</a:t>
                      </a:r>
                      <a:endParaRPr 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lnSpc>
                          <a:spcPct val="100000"/>
                        </a:lnSpc>
                      </a:pPr>
                      <a:r>
                        <a:rPr lang="ar-AE" sz="1800" b="1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متوسطة</a:t>
                      </a:r>
                      <a:endParaRPr lang="en-US" sz="1800" b="1" kern="1200" dirty="0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lnSpc>
                          <a:spcPct val="100000"/>
                        </a:lnSpc>
                      </a:pPr>
                      <a:r>
                        <a:rPr lang="ar-AE" b="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Arial" panose="020B0604020202020204" pitchFamily="34" charset="0"/>
                        </a:rPr>
                        <a:t>ضمن الوقت</a:t>
                      </a:r>
                      <a:endParaRPr lang="en-US" sz="1800" b="1" kern="1200" dirty="0">
                        <a:solidFill>
                          <a:schemeClr val="tx1"/>
                        </a:solidFill>
                        <a:highlight>
                          <a:srgbClr val="00FF00"/>
                        </a:highlight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</a:pP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29053974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DE6EA72-4F3A-4789-ADA8-7520FD6F04D8}"/>
              </a:ext>
            </a:extLst>
          </p:cNvPr>
          <p:cNvSpPr txBox="1"/>
          <p:nvPr/>
        </p:nvSpPr>
        <p:spPr>
          <a:xfrm>
            <a:off x="183959" y="4060377"/>
            <a:ext cx="9537476" cy="25306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lIns="72000" tIns="72000" rIns="72000" bIns="72000" rtlCol="0">
            <a:spAutoFit/>
          </a:bodyPr>
          <a:lstStyle/>
          <a:p>
            <a:pPr marL="342900" indent="-342900" algn="justLow" defTabSz="914400" rtl="1">
              <a:buFont typeface="+mj-lt"/>
              <a:buAutoNum type="arabicPeriod"/>
            </a:pP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ترتيب المهام حسب درجة الأسبقية ومؤشر الحالة المتأخرة وإبرازها بشكل واضح.</a:t>
            </a:r>
          </a:p>
          <a:p>
            <a:pPr marL="342900" indent="-342900" algn="justLow" defTabSz="914400" rtl="1">
              <a:buFont typeface="+mj-lt"/>
              <a:buAutoNum type="arabicPeriod"/>
            </a:pP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تحديد </a:t>
            </a:r>
            <a:r>
              <a:rPr lang="ar-AE" sz="1700" b="1" dirty="0">
                <a:latin typeface="Arial" panose="020B0604020202020204" pitchFamily="34" charset="0"/>
              </a:rPr>
              <a:t>درجة الأسبقية </a:t>
            </a: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وتوقيت الإنجاز من الجهة المصدرة للمهمة.</a:t>
            </a:r>
          </a:p>
          <a:p>
            <a:pPr marL="342900" indent="-342900" algn="justLow" defTabSz="914400" rtl="1">
              <a:buFont typeface="+mj-lt"/>
              <a:buAutoNum type="arabicPeriod"/>
            </a:pP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إرسال إشعارات تنبيه للمستخدم كل (30) دقيقة وللمسؤول في المستوى الأعلى كل (60) دقيقة تتضمن عدد المهام الغير مكتملة </a:t>
            </a:r>
            <a:r>
              <a:rPr lang="ar-AE" sz="1700" b="1" dirty="0">
                <a:latin typeface="Arial" panose="020B0604020202020204" pitchFamily="34" charset="0"/>
              </a:rPr>
              <a:t>ودرجة الأسبقية </a:t>
            </a: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وأسم المستخدم المكلف بالإجراء.</a:t>
            </a:r>
          </a:p>
          <a:p>
            <a:pPr marL="342900" indent="-342900" algn="justLow" defTabSz="914400" rtl="1">
              <a:buFont typeface="+mj-lt"/>
              <a:buAutoNum type="arabicPeriod"/>
            </a:pP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تغيير مؤشر الحالة تلقائياً حسب الوقت المتبقي للإنجاز.</a:t>
            </a:r>
          </a:p>
          <a:p>
            <a:pPr marL="342900" indent="-342900" algn="justLow" defTabSz="914400" rtl="1">
              <a:buFont typeface="+mj-lt"/>
              <a:buAutoNum type="arabicPeriod"/>
            </a:pP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استخدام ألوان واضحة (أحمر / أصفر / أخضر) لعرض درجة الأسبقية (عالية / متوسطة / منخفضة) ومؤشر الحالة (متأخرة / قريبة / ضمن الوقت).</a:t>
            </a:r>
          </a:p>
          <a:p>
            <a:pPr marL="342900" indent="-342900" algn="justLow" defTabSz="914400" rtl="1">
              <a:buFont typeface="+mj-lt"/>
              <a:buAutoNum type="arabicPeriod"/>
            </a:pP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حذف المهمة غير المكتملة من الصفحة تلقائياً إذا قام المستخدم بإنجازها أو حذفها يدوياً من خلال خاصية تغيير الحالة (تحديد كمكتملة / تعديل / حذف).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C6316083-F2F6-49E9-851D-388AA980FC85}"/>
              </a:ext>
            </a:extLst>
          </p:cNvPr>
          <p:cNvGrpSpPr/>
          <p:nvPr/>
        </p:nvGrpSpPr>
        <p:grpSpPr>
          <a:xfrm>
            <a:off x="293194" y="2161851"/>
            <a:ext cx="1244661" cy="584776"/>
            <a:chOff x="5633885" y="1476568"/>
            <a:chExt cx="1244661" cy="58477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xmlns="" id="{FE446184-910E-4603-A507-3085309ED927}"/>
                </a:ext>
              </a:extLst>
            </p:cNvPr>
            <p:cNvSpPr/>
            <p:nvPr/>
          </p:nvSpPr>
          <p:spPr>
            <a:xfrm>
              <a:off x="6124469" y="1476568"/>
              <a:ext cx="754077" cy="584776"/>
            </a:xfrm>
            <a:prstGeom prst="roundRect">
              <a:avLst/>
            </a:prstGeom>
            <a:solidFill>
              <a:schemeClr val="bg2"/>
            </a:solidFill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sz="2000" b="1" dirty="0">
                <a:solidFill>
                  <a:srgbClr val="F5F4F4"/>
                </a:solidFill>
                <a:latin typeface="AbdoMaster-Bold" panose="02000500030000020004" pitchFamily="50" charset="-78"/>
                <a:cs typeface="AbdoMaster-Bold" panose="02000500030000020004" pitchFamily="50" charset="-78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xmlns="" id="{CD248E33-5558-47F6-96F2-38392FBC9CFF}"/>
                </a:ext>
              </a:extLst>
            </p:cNvPr>
            <p:cNvSpPr/>
            <p:nvPr/>
          </p:nvSpPr>
          <p:spPr>
            <a:xfrm>
              <a:off x="5633885" y="1476568"/>
              <a:ext cx="818307" cy="584776"/>
            </a:xfrm>
            <a:prstGeom prst="roundRect">
              <a:avLst/>
            </a:prstGeom>
            <a:solidFill>
              <a:schemeClr val="bg2"/>
            </a:solidFill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sz="2000" b="1" dirty="0">
                <a:solidFill>
                  <a:srgbClr val="F5F4F4"/>
                </a:solidFill>
                <a:latin typeface="AbdoMaster-Bold" panose="02000500030000020004" pitchFamily="50" charset="-78"/>
                <a:cs typeface="AbdoMaster-Bold" panose="02000500030000020004" pitchFamily="50" charset="-78"/>
              </a:endParaRPr>
            </a:p>
          </p:txBody>
        </p:sp>
        <p:sp>
          <p:nvSpPr>
            <p:cNvPr id="15" name="Flowchart: Extract 14">
              <a:extLst>
                <a:ext uri="{FF2B5EF4-FFF2-40B4-BE49-F238E27FC236}">
                  <a16:creationId xmlns:a16="http://schemas.microsoft.com/office/drawing/2014/main" xmlns="" id="{A04F5CC1-C41C-48DA-9639-A3F195BCA274}"/>
                </a:ext>
              </a:extLst>
            </p:cNvPr>
            <p:cNvSpPr/>
            <p:nvPr/>
          </p:nvSpPr>
          <p:spPr>
            <a:xfrm rot="10800000">
              <a:off x="6533005" y="1648044"/>
              <a:ext cx="264729" cy="241823"/>
            </a:xfrm>
            <a:prstGeom prst="flowChartExtra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AE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D8964CA7-5990-4FB2-BF11-75CC20693884}"/>
              </a:ext>
            </a:extLst>
          </p:cNvPr>
          <p:cNvGrpSpPr/>
          <p:nvPr/>
        </p:nvGrpSpPr>
        <p:grpSpPr>
          <a:xfrm>
            <a:off x="293194" y="2990797"/>
            <a:ext cx="1244661" cy="584776"/>
            <a:chOff x="5633885" y="1476568"/>
            <a:chExt cx="1244661" cy="584776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xmlns="" id="{2CE003E8-AE3A-4289-BC33-09F3C80B389A}"/>
                </a:ext>
              </a:extLst>
            </p:cNvPr>
            <p:cNvSpPr/>
            <p:nvPr/>
          </p:nvSpPr>
          <p:spPr>
            <a:xfrm>
              <a:off x="6124469" y="1476568"/>
              <a:ext cx="754077" cy="584776"/>
            </a:xfrm>
            <a:prstGeom prst="roundRect">
              <a:avLst/>
            </a:prstGeom>
            <a:solidFill>
              <a:schemeClr val="bg2"/>
            </a:solidFill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sz="2000" b="1" dirty="0">
                <a:solidFill>
                  <a:srgbClr val="F5F4F4"/>
                </a:solidFill>
                <a:latin typeface="AbdoMaster-Bold" panose="02000500030000020004" pitchFamily="50" charset="-78"/>
                <a:cs typeface="AbdoMaster-Bold" panose="02000500030000020004" pitchFamily="50" charset="-78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xmlns="" id="{4942F38F-A773-4200-87A3-322294388004}"/>
                </a:ext>
              </a:extLst>
            </p:cNvPr>
            <p:cNvSpPr/>
            <p:nvPr/>
          </p:nvSpPr>
          <p:spPr>
            <a:xfrm>
              <a:off x="5633885" y="1476568"/>
              <a:ext cx="818307" cy="584776"/>
            </a:xfrm>
            <a:prstGeom prst="roundRect">
              <a:avLst/>
            </a:prstGeom>
            <a:solidFill>
              <a:schemeClr val="bg2"/>
            </a:solidFill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sz="2000" b="1" dirty="0">
                <a:solidFill>
                  <a:srgbClr val="F5F4F4"/>
                </a:solidFill>
                <a:latin typeface="AbdoMaster-Bold" panose="02000500030000020004" pitchFamily="50" charset="-78"/>
                <a:cs typeface="AbdoMaster-Bold" panose="02000500030000020004" pitchFamily="50" charset="-78"/>
              </a:endParaRPr>
            </a:p>
          </p:txBody>
        </p:sp>
        <p:sp>
          <p:nvSpPr>
            <p:cNvPr id="19" name="Flowchart: Extract 18">
              <a:extLst>
                <a:ext uri="{FF2B5EF4-FFF2-40B4-BE49-F238E27FC236}">
                  <a16:creationId xmlns:a16="http://schemas.microsoft.com/office/drawing/2014/main" xmlns="" id="{28DC9F15-CE9E-4A41-A77F-9FC3B2A8ECF4}"/>
                </a:ext>
              </a:extLst>
            </p:cNvPr>
            <p:cNvSpPr/>
            <p:nvPr/>
          </p:nvSpPr>
          <p:spPr>
            <a:xfrm rot="10800000">
              <a:off x="6533005" y="1648044"/>
              <a:ext cx="264729" cy="241823"/>
            </a:xfrm>
            <a:prstGeom prst="flowChartExtra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AE" dirty="0"/>
            </a:p>
          </p:txBody>
        </p:sp>
      </p:grpSp>
    </p:spTree>
    <p:extLst>
      <p:ext uri="{BB962C8B-B14F-4D97-AF65-F5344CB8AC3E}">
        <p14:creationId xmlns:p14="http://schemas.microsoft.com/office/powerpoint/2010/main" val="1304593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5415BA5-CB62-4A28-BEA0-76B13CECFD93}"/>
              </a:ext>
            </a:extLst>
          </p:cNvPr>
          <p:cNvSpPr txBox="1"/>
          <p:nvPr/>
        </p:nvSpPr>
        <p:spPr>
          <a:xfrm>
            <a:off x="1229695" y="228431"/>
            <a:ext cx="74466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AE" sz="3200" b="1" dirty="0">
                <a:latin typeface="AbdoMaster-Bold" panose="02000500030000020004" pitchFamily="50" charset="-78"/>
                <a:cs typeface="AbdoMaster-Bold" panose="02000500030000020004" pitchFamily="50" charset="-78"/>
              </a:rPr>
              <a:t>فريق المحكمين –معلومات التمرين</a:t>
            </a:r>
          </a:p>
        </p:txBody>
      </p:sp>
      <p:pic>
        <p:nvPicPr>
          <p:cNvPr id="5" name="Graphic 4" descr="Back RTL">
            <a:hlinkClick r:id="rId2" action="ppaction://hlinksldjump"/>
            <a:extLst>
              <a:ext uri="{FF2B5EF4-FFF2-40B4-BE49-F238E27FC236}">
                <a16:creationId xmlns:a16="http://schemas.microsoft.com/office/drawing/2014/main" xmlns="" id="{EC8FA263-EB14-4048-B9AC-99FE53757A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041691" y="39650"/>
            <a:ext cx="377562" cy="377562"/>
          </a:xfrm>
          <a:prstGeom prst="rect">
            <a:avLst/>
          </a:prstGeom>
        </p:spPr>
      </p:pic>
      <p:sp>
        <p:nvSpPr>
          <p:cNvPr id="6" name="TextBox 5">
            <a:hlinkClick r:id="rId2" action="ppaction://hlinksldjump"/>
            <a:extLst>
              <a:ext uri="{FF2B5EF4-FFF2-40B4-BE49-F238E27FC236}">
                <a16:creationId xmlns:a16="http://schemas.microsoft.com/office/drawing/2014/main" xmlns="" id="{AD81BBCD-6F67-42AE-893A-AB775FE81D95}"/>
              </a:ext>
            </a:extLst>
          </p:cNvPr>
          <p:cNvSpPr txBox="1"/>
          <p:nvPr/>
        </p:nvSpPr>
        <p:spPr>
          <a:xfrm>
            <a:off x="8445434" y="338362"/>
            <a:ext cx="14605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doMaster-Bold" panose="02000500030000020004" pitchFamily="50" charset="-78"/>
                <a:ea typeface="+mn-ea"/>
                <a:cs typeface="AbdoMaster-Bold" panose="02000500030000020004" pitchFamily="50" charset="-78"/>
              </a:rPr>
              <a:t>العودة للقائمة الرئيسية</a:t>
            </a:r>
            <a:endParaRPr kumimoji="0" lang="en-A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DE6EA72-4F3A-4789-ADA8-7520FD6F04D8}"/>
              </a:ext>
            </a:extLst>
          </p:cNvPr>
          <p:cNvSpPr txBox="1"/>
          <p:nvPr/>
        </p:nvSpPr>
        <p:spPr>
          <a:xfrm>
            <a:off x="2793458" y="5771465"/>
            <a:ext cx="6936601" cy="9302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lIns="72000" tIns="72000" rIns="72000" bIns="72000" rtlCol="0">
            <a:spAutoFit/>
          </a:bodyPr>
          <a:lstStyle/>
          <a:p>
            <a:pPr marL="342900" indent="-342900" algn="justLow" defTabSz="914400" rtl="1">
              <a:buFont typeface="+mj-lt"/>
              <a:buAutoNum type="arabicPeriod"/>
            </a:pPr>
            <a:r>
              <a:rPr lang="ar-AE" sz="1700" b="1" dirty="0">
                <a:latin typeface="Arial" panose="020B0604020202020204" pitchFamily="34" charset="0"/>
              </a:rPr>
              <a:t>إدخال وثائق التمرين في قاعدة البيانات من قبل فريق إدارة النظام قبل بدء التمرين.</a:t>
            </a:r>
          </a:p>
          <a:p>
            <a:pPr marL="342900" indent="-342900" algn="justLow" defTabSz="914400" rtl="1">
              <a:buFont typeface="+mj-lt"/>
              <a:buAutoNum type="arabicPeriod"/>
            </a:pPr>
            <a:r>
              <a:rPr lang="ar-AE" sz="1700" b="1" dirty="0">
                <a:latin typeface="Arial" panose="020B0604020202020204" pitchFamily="34" charset="0"/>
              </a:rPr>
              <a:t>عرض الوثائق بصيغة (</a:t>
            </a:r>
            <a:r>
              <a:rPr lang="en-US" sz="1700" b="1" dirty="0">
                <a:latin typeface="Arial" panose="020B0604020202020204" pitchFamily="34" charset="0"/>
              </a:rPr>
              <a:t>PDF</a:t>
            </a:r>
            <a:r>
              <a:rPr lang="ar-AE" sz="1700" b="1" dirty="0">
                <a:latin typeface="Arial" panose="020B0604020202020204" pitchFamily="34" charset="0"/>
              </a:rPr>
              <a:t>) للحفاظ على نسق الكتابة العسكرية.</a:t>
            </a:r>
          </a:p>
          <a:p>
            <a:pPr marL="342900" indent="-342900" algn="justLow" defTabSz="914400" rtl="1">
              <a:buFont typeface="+mj-lt"/>
              <a:buAutoNum type="arabicPeriod"/>
            </a:pPr>
            <a:r>
              <a:rPr lang="ar-AE" sz="1700" b="1" dirty="0">
                <a:latin typeface="Arial" panose="020B0604020202020204" pitchFamily="34" charset="0"/>
              </a:rPr>
              <a:t>تحديد صلاحيات الاطلاع من قبل فريق إدارة النظام.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0DAF0EA-D622-4850-B506-986C03B09884}"/>
              </a:ext>
            </a:extLst>
          </p:cNvPr>
          <p:cNvSpPr txBox="1"/>
          <p:nvPr/>
        </p:nvSpPr>
        <p:spPr>
          <a:xfrm>
            <a:off x="7958494" y="1015152"/>
            <a:ext cx="10252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AE" sz="6600" b="1" dirty="0">
                <a:sym typeface="Wingdings" panose="05000000000000000000" pitchFamily="2" charset="2"/>
              </a:rPr>
              <a:t></a:t>
            </a:r>
            <a:endParaRPr lang="en-US" sz="6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E5D2A74A-5972-423E-8B8A-A8B8625D71DD}"/>
              </a:ext>
            </a:extLst>
          </p:cNvPr>
          <p:cNvSpPr txBox="1"/>
          <p:nvPr/>
        </p:nvSpPr>
        <p:spPr>
          <a:xfrm>
            <a:off x="7476353" y="2106983"/>
            <a:ext cx="20848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doMaster-Bold" panose="02000500030000020004" pitchFamily="50" charset="-78"/>
                <a:ea typeface="+mn-ea"/>
                <a:cs typeface="AbdoMaster-Bold" panose="02000500030000020004" pitchFamily="50" charset="-78"/>
              </a:rPr>
              <a:t>تعليمات التمرين</a:t>
            </a:r>
            <a:endParaRPr kumimoji="0" lang="en-A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A280C765-2C52-4BBC-A166-D20553EAC266}"/>
              </a:ext>
            </a:extLst>
          </p:cNvPr>
          <p:cNvSpPr txBox="1"/>
          <p:nvPr/>
        </p:nvSpPr>
        <p:spPr>
          <a:xfrm>
            <a:off x="6187959" y="1026726"/>
            <a:ext cx="10252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AE" sz="6600" b="1" dirty="0">
                <a:sym typeface="Wingdings" panose="05000000000000000000" pitchFamily="2" charset="2"/>
              </a:rPr>
              <a:t></a:t>
            </a:r>
            <a:endParaRPr lang="en-US" sz="6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28296563-1522-454D-9320-B3E6E035A663}"/>
              </a:ext>
            </a:extLst>
          </p:cNvPr>
          <p:cNvSpPr txBox="1"/>
          <p:nvPr/>
        </p:nvSpPr>
        <p:spPr>
          <a:xfrm>
            <a:off x="5705818" y="2118557"/>
            <a:ext cx="20848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doMaster-Bold" panose="02000500030000020004" pitchFamily="50" charset="-78"/>
                <a:ea typeface="+mn-ea"/>
                <a:cs typeface="AbdoMaster-Bold" panose="02000500030000020004" pitchFamily="50" charset="-78"/>
              </a:rPr>
              <a:t>الأمر الإنذاري/1</a:t>
            </a:r>
            <a:endParaRPr kumimoji="0" lang="en-A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3922B1F7-3366-43CC-B444-E1A06088A73C}"/>
              </a:ext>
            </a:extLst>
          </p:cNvPr>
          <p:cNvSpPr txBox="1"/>
          <p:nvPr/>
        </p:nvSpPr>
        <p:spPr>
          <a:xfrm>
            <a:off x="4417424" y="1015031"/>
            <a:ext cx="10252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AE" sz="6600" b="1" dirty="0">
                <a:sym typeface="Wingdings" panose="05000000000000000000" pitchFamily="2" charset="2"/>
              </a:rPr>
              <a:t></a:t>
            </a:r>
            <a:endParaRPr lang="en-US" sz="6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1391E722-F314-4B64-8BFE-861B6B9FC217}"/>
              </a:ext>
            </a:extLst>
          </p:cNvPr>
          <p:cNvSpPr txBox="1"/>
          <p:nvPr/>
        </p:nvSpPr>
        <p:spPr>
          <a:xfrm>
            <a:off x="3935283" y="2106862"/>
            <a:ext cx="20848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doMaster-Bold" panose="02000500030000020004" pitchFamily="50" charset="-78"/>
                <a:ea typeface="+mn-ea"/>
                <a:cs typeface="AbdoMaster-Bold" panose="02000500030000020004" pitchFamily="50" charset="-78"/>
              </a:rPr>
              <a:t>الأمر الإنذاري/2</a:t>
            </a:r>
            <a:endParaRPr kumimoji="0" lang="en-A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B87BACED-E48C-4F9A-A278-5D2862B7AEF2}"/>
              </a:ext>
            </a:extLst>
          </p:cNvPr>
          <p:cNvSpPr txBox="1"/>
          <p:nvPr/>
        </p:nvSpPr>
        <p:spPr>
          <a:xfrm>
            <a:off x="2548760" y="1015031"/>
            <a:ext cx="10252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AE" sz="6600" b="1" dirty="0">
                <a:sym typeface="Wingdings" panose="05000000000000000000" pitchFamily="2" charset="2"/>
              </a:rPr>
              <a:t></a:t>
            </a:r>
            <a:endParaRPr lang="en-US" sz="6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1A91C6D9-82D3-45BE-A27F-91DD41FA8B6D}"/>
              </a:ext>
            </a:extLst>
          </p:cNvPr>
          <p:cNvSpPr txBox="1"/>
          <p:nvPr/>
        </p:nvSpPr>
        <p:spPr>
          <a:xfrm>
            <a:off x="2066619" y="2106862"/>
            <a:ext cx="20848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doMaster-Bold" panose="02000500030000020004" pitchFamily="50" charset="-78"/>
                <a:ea typeface="+mn-ea"/>
                <a:cs typeface="AbdoMaster-Bold" panose="02000500030000020004" pitchFamily="50" charset="-78"/>
              </a:rPr>
              <a:t>الأمر الإنذاري/3</a:t>
            </a:r>
            <a:endParaRPr kumimoji="0" lang="en-A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407CFBBF-F0FD-4AE6-A067-13D243295C8C}"/>
              </a:ext>
            </a:extLst>
          </p:cNvPr>
          <p:cNvSpPr txBox="1"/>
          <p:nvPr/>
        </p:nvSpPr>
        <p:spPr>
          <a:xfrm>
            <a:off x="775390" y="1026726"/>
            <a:ext cx="10252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AE" sz="6600" b="1" dirty="0">
                <a:sym typeface="Wingdings" panose="05000000000000000000" pitchFamily="2" charset="2"/>
              </a:rPr>
              <a:t></a:t>
            </a:r>
            <a:endParaRPr lang="en-US" sz="6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18D57889-954F-4F71-8D52-F08DCA323CFB}"/>
              </a:ext>
            </a:extLst>
          </p:cNvPr>
          <p:cNvSpPr txBox="1"/>
          <p:nvPr/>
        </p:nvSpPr>
        <p:spPr>
          <a:xfrm>
            <a:off x="293249" y="2118557"/>
            <a:ext cx="20848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doMaster-Bold" panose="02000500030000020004" pitchFamily="50" charset="-78"/>
                <a:ea typeface="+mn-ea"/>
                <a:cs typeface="AbdoMaster-Bold" panose="02000500030000020004" pitchFamily="50" charset="-78"/>
              </a:rPr>
              <a:t>أمر العمليات</a:t>
            </a:r>
            <a:endParaRPr kumimoji="0" lang="en-A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1790A3F7-E835-4D06-A891-16423A2D3977}"/>
              </a:ext>
            </a:extLst>
          </p:cNvPr>
          <p:cNvSpPr txBox="1"/>
          <p:nvPr/>
        </p:nvSpPr>
        <p:spPr>
          <a:xfrm>
            <a:off x="7880646" y="2441538"/>
            <a:ext cx="10252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AE" sz="6600" b="1" dirty="0">
                <a:sym typeface="Wingdings" panose="05000000000000000000" pitchFamily="2" charset="2"/>
              </a:rPr>
              <a:t></a:t>
            </a:r>
            <a:endParaRPr lang="en-US" sz="66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FFCF36A2-FA32-43DD-8800-70D3AF631916}"/>
              </a:ext>
            </a:extLst>
          </p:cNvPr>
          <p:cNvSpPr txBox="1"/>
          <p:nvPr/>
        </p:nvSpPr>
        <p:spPr>
          <a:xfrm>
            <a:off x="7398505" y="3533369"/>
            <a:ext cx="20848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doMaster-Bold" panose="02000500030000020004" pitchFamily="50" charset="-78"/>
                <a:ea typeface="+mn-ea"/>
                <a:cs typeface="AbdoMaster-Bold" panose="02000500030000020004" pitchFamily="50" charset="-78"/>
              </a:rPr>
              <a:t>البرنامج الزمني</a:t>
            </a:r>
            <a:endParaRPr kumimoji="0" lang="en-A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F609D098-432F-456B-97DB-08A4E12860D9}"/>
              </a:ext>
            </a:extLst>
          </p:cNvPr>
          <p:cNvSpPr txBox="1"/>
          <p:nvPr/>
        </p:nvSpPr>
        <p:spPr>
          <a:xfrm>
            <a:off x="6182908" y="2466598"/>
            <a:ext cx="10252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AE" sz="6600" b="1" dirty="0">
                <a:sym typeface="Wingdings" panose="05000000000000000000" pitchFamily="2" charset="2"/>
              </a:rPr>
              <a:t></a:t>
            </a:r>
            <a:endParaRPr lang="en-US" sz="6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F3764071-451B-47BE-9CF4-C53AEB55299C}"/>
              </a:ext>
            </a:extLst>
          </p:cNvPr>
          <p:cNvSpPr txBox="1"/>
          <p:nvPr/>
        </p:nvSpPr>
        <p:spPr>
          <a:xfrm>
            <a:off x="5700767" y="3558429"/>
            <a:ext cx="20848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doMaster-Bold" panose="02000500030000020004" pitchFamily="50" charset="-78"/>
                <a:ea typeface="+mn-ea"/>
                <a:cs typeface="AbdoMaster-Bold" panose="02000500030000020004" pitchFamily="50" charset="-78"/>
              </a:rPr>
              <a:t>إيجاز التمرين</a:t>
            </a:r>
            <a:endParaRPr kumimoji="0" lang="en-A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4AA70F78-DD76-46B7-8669-9F7D169CBF32}"/>
              </a:ext>
            </a:extLst>
          </p:cNvPr>
          <p:cNvSpPr txBox="1"/>
          <p:nvPr/>
        </p:nvSpPr>
        <p:spPr>
          <a:xfrm>
            <a:off x="4461738" y="2484850"/>
            <a:ext cx="10252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AE" sz="6600" b="1" dirty="0">
                <a:sym typeface="Wingdings" panose="05000000000000000000" pitchFamily="2" charset="2"/>
              </a:rPr>
              <a:t></a:t>
            </a:r>
            <a:endParaRPr lang="en-US" sz="66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DB9FC114-D2A2-4067-A92A-93313FBB8C05}"/>
              </a:ext>
            </a:extLst>
          </p:cNvPr>
          <p:cNvSpPr txBox="1"/>
          <p:nvPr/>
        </p:nvSpPr>
        <p:spPr>
          <a:xfrm>
            <a:off x="3979597" y="3576681"/>
            <a:ext cx="20848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doMaster-Bold" panose="02000500030000020004" pitchFamily="50" charset="-78"/>
                <a:ea typeface="+mn-ea"/>
                <a:cs typeface="AbdoMaster-Bold" panose="02000500030000020004" pitchFamily="50" charset="-78"/>
              </a:rPr>
              <a:t>إيجاز الزوار</a:t>
            </a:r>
            <a:endParaRPr kumimoji="0" lang="en-A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692A7A1E-4488-4BAF-AFB0-84D59281D8C8}"/>
              </a:ext>
            </a:extLst>
          </p:cNvPr>
          <p:cNvSpPr txBox="1"/>
          <p:nvPr/>
        </p:nvSpPr>
        <p:spPr>
          <a:xfrm>
            <a:off x="775390" y="2484850"/>
            <a:ext cx="10252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AE" sz="6600" b="1" dirty="0">
                <a:sym typeface="Wingdings" panose="05000000000000000000" pitchFamily="2" charset="2"/>
              </a:rPr>
              <a:t></a:t>
            </a:r>
            <a:endParaRPr lang="en-US" sz="66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7A3E8E10-4758-4AF6-8C70-CB841360D547}"/>
              </a:ext>
            </a:extLst>
          </p:cNvPr>
          <p:cNvSpPr txBox="1"/>
          <p:nvPr/>
        </p:nvSpPr>
        <p:spPr>
          <a:xfrm>
            <a:off x="293249" y="3576681"/>
            <a:ext cx="20848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doMaster-Bold" panose="02000500030000020004" pitchFamily="50" charset="-78"/>
                <a:ea typeface="+mn-ea"/>
                <a:cs typeface="AbdoMaster-Bold" panose="02000500030000020004" pitchFamily="50" charset="-78"/>
              </a:rPr>
              <a:t>إيجاز سيطرة التمرين اليومي</a:t>
            </a:r>
            <a:endParaRPr kumimoji="0" lang="en-A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BD9AC988-E021-499C-95E6-5428EC6B3A97}"/>
              </a:ext>
            </a:extLst>
          </p:cNvPr>
          <p:cNvSpPr txBox="1"/>
          <p:nvPr/>
        </p:nvSpPr>
        <p:spPr>
          <a:xfrm>
            <a:off x="2618564" y="2484850"/>
            <a:ext cx="10252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AE" sz="6600" b="1" dirty="0">
                <a:sym typeface="Wingdings" panose="05000000000000000000" pitchFamily="2" charset="2"/>
              </a:rPr>
              <a:t></a:t>
            </a:r>
            <a:endParaRPr lang="en-US" sz="66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DEE71DE0-4B2D-4C9A-9B0B-278BB7B36B64}"/>
              </a:ext>
            </a:extLst>
          </p:cNvPr>
          <p:cNvSpPr txBox="1"/>
          <p:nvPr/>
        </p:nvSpPr>
        <p:spPr>
          <a:xfrm>
            <a:off x="2136423" y="3576681"/>
            <a:ext cx="20848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doMaster-Bold" panose="02000500030000020004" pitchFamily="50" charset="-78"/>
                <a:ea typeface="+mn-ea"/>
                <a:cs typeface="AbdoMaster-Bold" panose="02000500030000020004" pitchFamily="50" charset="-78"/>
              </a:rPr>
              <a:t>إيجاز المحكمين اليومي</a:t>
            </a:r>
            <a:endParaRPr kumimoji="0" lang="en-A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C86582B2-D1D7-40AA-B2C3-A955585852CE}"/>
              </a:ext>
            </a:extLst>
          </p:cNvPr>
          <p:cNvSpPr txBox="1"/>
          <p:nvPr/>
        </p:nvSpPr>
        <p:spPr>
          <a:xfrm>
            <a:off x="7958494" y="3896576"/>
            <a:ext cx="10252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AE" sz="6600" b="1" dirty="0">
                <a:sym typeface="Wingdings" panose="05000000000000000000" pitchFamily="2" charset="2"/>
              </a:rPr>
              <a:t></a:t>
            </a:r>
            <a:endParaRPr lang="en-US" sz="66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E0E55301-0846-4686-9515-1A6331AA1B44}"/>
              </a:ext>
            </a:extLst>
          </p:cNvPr>
          <p:cNvSpPr txBox="1"/>
          <p:nvPr/>
        </p:nvSpPr>
        <p:spPr>
          <a:xfrm>
            <a:off x="7476353" y="4988407"/>
            <a:ext cx="20848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doMaster-Bold" panose="02000500030000020004" pitchFamily="50" charset="-78"/>
                <a:ea typeface="+mn-ea"/>
                <a:cs typeface="AbdoMaster-Bold" panose="02000500030000020004" pitchFamily="50" charset="-78"/>
              </a:rPr>
              <a:t>مجرى الأحداث والمعاضل</a:t>
            </a:r>
            <a:endParaRPr kumimoji="0" lang="en-A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A486CF11-5289-44EE-9212-CD0DB9AFAEA1}"/>
              </a:ext>
            </a:extLst>
          </p:cNvPr>
          <p:cNvSpPr txBox="1"/>
          <p:nvPr/>
        </p:nvSpPr>
        <p:spPr>
          <a:xfrm>
            <a:off x="6228837" y="3906470"/>
            <a:ext cx="10252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AE" sz="6600" b="1" dirty="0">
                <a:sym typeface="Wingdings" panose="05000000000000000000" pitchFamily="2" charset="2"/>
              </a:rPr>
              <a:t></a:t>
            </a:r>
            <a:endParaRPr lang="en-US" sz="66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39CB501-C491-4644-BD38-B32828742061}"/>
              </a:ext>
            </a:extLst>
          </p:cNvPr>
          <p:cNvSpPr txBox="1"/>
          <p:nvPr/>
        </p:nvSpPr>
        <p:spPr>
          <a:xfrm>
            <a:off x="5723264" y="4998301"/>
            <a:ext cx="20848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doMaster-Bold" panose="02000500030000020004" pitchFamily="50" charset="-78"/>
                <a:ea typeface="+mn-ea"/>
                <a:cs typeface="AbdoMaster-Bold" panose="02000500030000020004" pitchFamily="50" charset="-78"/>
              </a:rPr>
              <a:t>شفاف العمليات</a:t>
            </a:r>
            <a:endParaRPr kumimoji="0" lang="en-A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2318157D-281A-43FF-899C-A31E646411A5}"/>
              </a:ext>
            </a:extLst>
          </p:cNvPr>
          <p:cNvSpPr txBox="1"/>
          <p:nvPr/>
        </p:nvSpPr>
        <p:spPr>
          <a:xfrm>
            <a:off x="4514830" y="3884214"/>
            <a:ext cx="10252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AE" sz="6600" b="1" dirty="0">
                <a:sym typeface="Wingdings" panose="05000000000000000000" pitchFamily="2" charset="2"/>
              </a:rPr>
              <a:t></a:t>
            </a:r>
            <a:endParaRPr lang="en-US" sz="66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A6B9209-6403-4057-BEC7-1286B2CAA7E2}"/>
              </a:ext>
            </a:extLst>
          </p:cNvPr>
          <p:cNvSpPr txBox="1"/>
          <p:nvPr/>
        </p:nvSpPr>
        <p:spPr>
          <a:xfrm>
            <a:off x="4191200" y="5002104"/>
            <a:ext cx="17916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doMaster-Bold" panose="02000500030000020004" pitchFamily="50" charset="-78"/>
                <a:ea typeface="+mn-ea"/>
                <a:cs typeface="AbdoMaster-Bold" panose="02000500030000020004" pitchFamily="50" charset="-78"/>
              </a:rPr>
              <a:t>قائمة المشاركين في التمرين</a:t>
            </a:r>
            <a:endParaRPr kumimoji="0" lang="en-A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8696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958C5FC-3047-3195-CB9E-383F724FF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CA442AB-2A8B-C339-D393-4FDD603E4982}"/>
              </a:ext>
            </a:extLst>
          </p:cNvPr>
          <p:cNvSpPr txBox="1"/>
          <p:nvPr/>
        </p:nvSpPr>
        <p:spPr>
          <a:xfrm>
            <a:off x="1601602" y="569195"/>
            <a:ext cx="67027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/>
            </a:pPr>
            <a:r>
              <a:rPr lang="ar-AE" sz="3200" b="1" dirty="0">
                <a:solidFill>
                  <a:prstClr val="black"/>
                </a:solidFill>
                <a:latin typeface="AbdoMaster-Bold" panose="02000500030000020004" pitchFamily="50" charset="-78"/>
                <a:cs typeface="AbdoMaster-Bold" panose="02000500030000020004" pitchFamily="50" charset="-78"/>
              </a:rPr>
              <a:t>فريق المحكمين –سجل الإشعارات</a:t>
            </a:r>
            <a:endParaRPr lang="en-AE" sz="3200" dirty="0">
              <a:solidFill>
                <a:prstClr val="black"/>
              </a:solidFill>
            </a:endParaRPr>
          </a:p>
        </p:txBody>
      </p:sp>
      <p:pic>
        <p:nvPicPr>
          <p:cNvPr id="35" name="Graphic 34" descr="Back RTL">
            <a:hlinkClick r:id="rId3" action="ppaction://hlinksldjump"/>
            <a:extLst>
              <a:ext uri="{FF2B5EF4-FFF2-40B4-BE49-F238E27FC236}">
                <a16:creationId xmlns:a16="http://schemas.microsoft.com/office/drawing/2014/main" xmlns="" id="{B7404869-875C-450B-BAEE-B94392A040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9041691" y="39650"/>
            <a:ext cx="377562" cy="377562"/>
          </a:xfrm>
          <a:prstGeom prst="rect">
            <a:avLst/>
          </a:prstGeom>
        </p:spPr>
      </p:pic>
      <p:sp>
        <p:nvSpPr>
          <p:cNvPr id="36" name="TextBox 35">
            <a:hlinkClick r:id="rId3" action="ppaction://hlinksldjump"/>
            <a:extLst>
              <a:ext uri="{FF2B5EF4-FFF2-40B4-BE49-F238E27FC236}">
                <a16:creationId xmlns:a16="http://schemas.microsoft.com/office/drawing/2014/main" xmlns="" id="{3530AB7D-3F7B-41C4-ACCB-14CE49553F86}"/>
              </a:ext>
            </a:extLst>
          </p:cNvPr>
          <p:cNvSpPr txBox="1"/>
          <p:nvPr/>
        </p:nvSpPr>
        <p:spPr>
          <a:xfrm>
            <a:off x="8445434" y="338362"/>
            <a:ext cx="14605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doMaster-Bold" panose="02000500030000020004" pitchFamily="50" charset="-78"/>
                <a:ea typeface="+mn-ea"/>
                <a:cs typeface="AbdoMaster-Bold" panose="02000500030000020004" pitchFamily="50" charset="-78"/>
              </a:rPr>
              <a:t>العودة للقائمة الرئيسية</a:t>
            </a:r>
            <a:endParaRPr kumimoji="0" lang="en-A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D8F0E958-3B23-4FA2-BC27-8BA2639AE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963692"/>
              </p:ext>
            </p:extLst>
          </p:nvPr>
        </p:nvGraphicFramePr>
        <p:xfrm>
          <a:off x="281684" y="1207262"/>
          <a:ext cx="9319517" cy="31003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37310">
                  <a:extLst>
                    <a:ext uri="{9D8B030D-6E8A-4147-A177-3AD203B41FA5}">
                      <a16:colId xmlns:a16="http://schemas.microsoft.com/office/drawing/2014/main" xmlns="" val="136187807"/>
                    </a:ext>
                  </a:extLst>
                </a:gridCol>
                <a:gridCol w="6347379">
                  <a:extLst>
                    <a:ext uri="{9D8B030D-6E8A-4147-A177-3AD203B41FA5}">
                      <a16:colId xmlns:a16="http://schemas.microsoft.com/office/drawing/2014/main" xmlns="" val="2518042568"/>
                    </a:ext>
                  </a:extLst>
                </a:gridCol>
                <a:gridCol w="2334828">
                  <a:extLst>
                    <a:ext uri="{9D8B030D-6E8A-4147-A177-3AD203B41FA5}">
                      <a16:colId xmlns:a16="http://schemas.microsoft.com/office/drawing/2014/main" xmlns="" val="2628594153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rtl="1"/>
                      <a:r>
                        <a:rPr lang="ar-AE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ت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الإشعار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توقيت الإشعار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93944835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rtl="1"/>
                      <a:r>
                        <a:rPr lang="ar-AE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لديك رسالة صوتية جديدة</a:t>
                      </a:r>
                      <a:endParaRPr lang="en-US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سعت 0700 </a:t>
                      </a:r>
                    </a:p>
                    <a:p>
                      <a:pPr algn="ctr" rtl="1"/>
                      <a:r>
                        <a:rPr lang="ar-AE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يوم 15 / 5 / 2026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6791712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rtl="1"/>
                      <a:r>
                        <a:rPr lang="ar-AE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اجتماع سيطرة التمرين اليومي سعت 1800</a:t>
                      </a:r>
                      <a:endParaRPr lang="en-US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sz="1800" dirty="0">
                          <a:latin typeface="Arial" panose="020B0604020202020204" pitchFamily="34" charset="0"/>
                          <a:cs typeface="+mn-cs"/>
                        </a:rPr>
                        <a:t>سعت 1400</a:t>
                      </a:r>
                    </a:p>
                    <a:p>
                      <a:pPr algn="ctr" rtl="1"/>
                      <a:r>
                        <a:rPr lang="ar-AE" sz="1800" dirty="0">
                          <a:latin typeface="Arial" panose="020B0604020202020204" pitchFamily="34" charset="0"/>
                          <a:cs typeface="+mn-cs"/>
                        </a:rPr>
                        <a:t>يوم 15 / 5 / 2026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06714045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rtl="1"/>
                      <a:r>
                        <a:rPr lang="ar-AE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تم تحميل وثيقة جديدة (أمر مجزأ)</a:t>
                      </a:r>
                      <a:endParaRPr lang="en-US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sz="1800" dirty="0">
                          <a:latin typeface="Arial" panose="020B0604020202020204" pitchFamily="34" charset="0"/>
                          <a:cs typeface="+mn-cs"/>
                        </a:rPr>
                        <a:t>سعت 1500</a:t>
                      </a:r>
                    </a:p>
                    <a:p>
                      <a:pPr algn="ctr" rtl="1"/>
                      <a:r>
                        <a:rPr lang="ar-AE" sz="1800" dirty="0">
                          <a:latin typeface="Arial" panose="020B0604020202020204" pitchFamily="34" charset="0"/>
                          <a:cs typeface="+mn-cs"/>
                        </a:rPr>
                        <a:t>يوم 15 / 5 / 2026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50331419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rtl="1"/>
                      <a:r>
                        <a:rPr lang="ar-AE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لديك مهمة جديدة</a:t>
                      </a:r>
                      <a:endParaRPr lang="en-US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AE" sz="1800" dirty="0">
                          <a:latin typeface="Arial" panose="020B0604020202020204" pitchFamily="34" charset="0"/>
                          <a:cs typeface="+mn-cs"/>
                        </a:rPr>
                        <a:t>سعت 1800</a:t>
                      </a:r>
                    </a:p>
                    <a:p>
                      <a:pPr algn="ctr" rtl="1"/>
                      <a:r>
                        <a:rPr lang="ar-AE" sz="1800" dirty="0">
                          <a:latin typeface="Arial" panose="020B0604020202020204" pitchFamily="34" charset="0"/>
                          <a:cs typeface="+mn-cs"/>
                        </a:rPr>
                        <a:t>يوم 15 / 5 / 2026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51054188"/>
                  </a:ext>
                </a:extLst>
              </a:tr>
            </a:tbl>
          </a:graphicData>
        </a:graphic>
      </p:graphicFrame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94108342-B055-43B4-B369-57E07FB83231}"/>
              </a:ext>
            </a:extLst>
          </p:cNvPr>
          <p:cNvSpPr txBox="1"/>
          <p:nvPr/>
        </p:nvSpPr>
        <p:spPr>
          <a:xfrm>
            <a:off x="6026726" y="4567946"/>
            <a:ext cx="3575871" cy="164236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marL="342900" indent="-342900" algn="justLow" defTabSz="914400" rtl="1">
              <a:buFont typeface="+mj-lt"/>
              <a:buAutoNum type="arabicPeriod"/>
            </a:pP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إظهار قائمة بجميع الإشعارات التي يتم إرسالها من سيطرة التمرين أو من فريق التخطيط أو فريق إدارة النظام أو المحكم الأقدم.</a:t>
            </a:r>
          </a:p>
          <a:p>
            <a:pPr marL="342900" indent="-342900" algn="justLow" defTabSz="914400" rtl="1">
              <a:buFont typeface="+mj-lt"/>
              <a:buAutoNum type="arabicPeriod"/>
            </a:pPr>
            <a:r>
              <a:rPr lang="ar-AE" sz="1700" b="1" dirty="0">
                <a:latin typeface="Arial" panose="020B0604020202020204" pitchFamily="34" charset="0"/>
                <a:cs typeface="Arial" panose="020B0604020202020204" pitchFamily="34" charset="0"/>
              </a:rPr>
              <a:t>ظهور الإشعار على هيئة تنبيه منبثق أعلى الشاشة مثل إشعارات الهواتف الاعتيادية.</a:t>
            </a:r>
          </a:p>
        </p:txBody>
      </p:sp>
    </p:spTree>
    <p:extLst>
      <p:ext uri="{BB962C8B-B14F-4D97-AF65-F5344CB8AC3E}">
        <p14:creationId xmlns:p14="http://schemas.microsoft.com/office/powerpoint/2010/main" val="3347816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2221</TotalTime>
  <Words>1007</Words>
  <Application>Microsoft Office PowerPoint</Application>
  <PresentationFormat>A4 Paper (210x297 mm)</PresentationFormat>
  <Paragraphs>226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AbdoMaster-Bold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Hala Sameh</dc:creator>
  <cp:lastModifiedBy>ADMIN</cp:lastModifiedBy>
  <cp:revision>148</cp:revision>
  <dcterms:created xsi:type="dcterms:W3CDTF">2026-04-21T15:54:55Z</dcterms:created>
  <dcterms:modified xsi:type="dcterms:W3CDTF">2026-05-05T16:43:47Z</dcterms:modified>
</cp:coreProperties>
</file>